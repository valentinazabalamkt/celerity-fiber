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1" r:id="rId4"/>
    <p:sldId id="271" r:id="rId5"/>
    <p:sldId id="269" r:id="rId6"/>
    <p:sldId id="296" r:id="rId7"/>
    <p:sldId id="258"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3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641195-9B1D-47F9-A34A-CA79901B1BF3}" v="124" dt="2024-12-09T19:30:16.1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Jose Florez" userId="dd1ceb10-4736-4ec6-a13d-e0c84de6c4b1" providerId="ADAL" clId="{2C64E4FF-9E21-4C4E-BB9B-567DBA789E8E}"/>
    <pc:docChg chg="undo custSel addSld delSld modSld sldOrd">
      <pc:chgData name="Juan Jose Florez" userId="dd1ceb10-4736-4ec6-a13d-e0c84de6c4b1" providerId="ADAL" clId="{2C64E4FF-9E21-4C4E-BB9B-567DBA789E8E}" dt="2024-11-20T17:42:32.731" v="1218" actId="1035"/>
      <pc:docMkLst>
        <pc:docMk/>
      </pc:docMkLst>
      <pc:sldChg chg="addSp delSp modSp mod setBg delDesignElem">
        <pc:chgData name="Juan Jose Florez" userId="dd1ceb10-4736-4ec6-a13d-e0c84de6c4b1" providerId="ADAL" clId="{2C64E4FF-9E21-4C4E-BB9B-567DBA789E8E}" dt="2024-11-20T17:04:45.067" v="1187" actId="1076"/>
        <pc:sldMkLst>
          <pc:docMk/>
          <pc:sldMk cId="3470377486" sldId="256"/>
        </pc:sldMkLst>
      </pc:sldChg>
      <pc:sldChg chg="modSp del mod ord modShow">
        <pc:chgData name="Juan Jose Florez" userId="dd1ceb10-4736-4ec6-a13d-e0c84de6c4b1" providerId="ADAL" clId="{2C64E4FF-9E21-4C4E-BB9B-567DBA789E8E}" dt="2024-11-20T13:53:16.722" v="914" actId="47"/>
        <pc:sldMkLst>
          <pc:docMk/>
          <pc:sldMk cId="3424490729" sldId="257"/>
        </pc:sldMkLst>
      </pc:sldChg>
      <pc:sldChg chg="addSp delSp modSp mod ord setBg modShow">
        <pc:chgData name="Juan Jose Florez" userId="dd1ceb10-4736-4ec6-a13d-e0c84de6c4b1" providerId="ADAL" clId="{2C64E4FF-9E21-4C4E-BB9B-567DBA789E8E}" dt="2024-11-20T17:06:26.644" v="1200" actId="1076"/>
        <pc:sldMkLst>
          <pc:docMk/>
          <pc:sldMk cId="2291962493" sldId="258"/>
        </pc:sldMkLst>
      </pc:sldChg>
      <pc:sldChg chg="addSp delSp modSp new mod ord setBg delDesignElem">
        <pc:chgData name="Juan Jose Florez" userId="dd1ceb10-4736-4ec6-a13d-e0c84de6c4b1" providerId="ADAL" clId="{2C64E4FF-9E21-4C4E-BB9B-567DBA789E8E}" dt="2024-11-20T17:42:32.731" v="1218" actId="1035"/>
        <pc:sldMkLst>
          <pc:docMk/>
          <pc:sldMk cId="1285201651" sldId="259"/>
        </pc:sldMkLst>
      </pc:sldChg>
      <pc:sldChg chg="addSp delSp modSp new mod modClrScheme chgLayout">
        <pc:chgData name="Juan Jose Florez" userId="dd1ceb10-4736-4ec6-a13d-e0c84de6c4b1" providerId="ADAL" clId="{2C64E4FF-9E21-4C4E-BB9B-567DBA789E8E}" dt="2024-11-20T17:07:17.598" v="1205" actId="12100"/>
        <pc:sldMkLst>
          <pc:docMk/>
          <pc:sldMk cId="933878530" sldId="260"/>
        </pc:sldMkLst>
      </pc:sldChg>
      <pc:sldChg chg="addSp delSp modSp new mod ord">
        <pc:chgData name="Juan Jose Florez" userId="dd1ceb10-4736-4ec6-a13d-e0c84de6c4b1" providerId="ADAL" clId="{2C64E4FF-9E21-4C4E-BB9B-567DBA789E8E}" dt="2024-11-20T17:07:50.498" v="1211"/>
        <pc:sldMkLst>
          <pc:docMk/>
          <pc:sldMk cId="183349217" sldId="261"/>
        </pc:sldMkLst>
      </pc:sldChg>
      <pc:sldChg chg="addSp delSp modSp new mod modShow">
        <pc:chgData name="Juan Jose Florez" userId="dd1ceb10-4736-4ec6-a13d-e0c84de6c4b1" providerId="ADAL" clId="{2C64E4FF-9E21-4C4E-BB9B-567DBA789E8E}" dt="2024-11-20T17:04:22.572" v="1184"/>
        <pc:sldMkLst>
          <pc:docMk/>
          <pc:sldMk cId="3980229620" sldId="262"/>
        </pc:sldMkLst>
      </pc:sldChg>
      <pc:sldChg chg="addSp delSp modSp new mod ord modShow">
        <pc:chgData name="Juan Jose Florez" userId="dd1ceb10-4736-4ec6-a13d-e0c84de6c4b1" providerId="ADAL" clId="{2C64E4FF-9E21-4C4E-BB9B-567DBA789E8E}" dt="2024-11-20T16:59:56.615" v="1140" actId="729"/>
        <pc:sldMkLst>
          <pc:docMk/>
          <pc:sldMk cId="2272060798" sldId="263"/>
        </pc:sldMkLst>
      </pc:sldChg>
      <pc:sldChg chg="mod modShow">
        <pc:chgData name="Juan Jose Florez" userId="dd1ceb10-4736-4ec6-a13d-e0c84de6c4b1" providerId="ADAL" clId="{2C64E4FF-9E21-4C4E-BB9B-567DBA789E8E}" dt="2024-11-20T16:59:54.321" v="1139" actId="729"/>
        <pc:sldMkLst>
          <pc:docMk/>
          <pc:sldMk cId="1905793569" sldId="264"/>
        </pc:sldMkLst>
      </pc:sldChg>
      <pc:sldChg chg="modSp mod modShow">
        <pc:chgData name="Juan Jose Florez" userId="dd1ceb10-4736-4ec6-a13d-e0c84de6c4b1" providerId="ADAL" clId="{2C64E4FF-9E21-4C4E-BB9B-567DBA789E8E}" dt="2024-11-20T17:04:22.572" v="1184"/>
        <pc:sldMkLst>
          <pc:docMk/>
          <pc:sldMk cId="1248506417" sldId="265"/>
        </pc:sldMkLst>
      </pc:sldChg>
      <pc:sldChg chg="mod modShow">
        <pc:chgData name="Juan Jose Florez" userId="dd1ceb10-4736-4ec6-a13d-e0c84de6c4b1" providerId="ADAL" clId="{2C64E4FF-9E21-4C4E-BB9B-567DBA789E8E}" dt="2024-11-20T16:59:51.576" v="1138" actId="729"/>
        <pc:sldMkLst>
          <pc:docMk/>
          <pc:sldMk cId="4231374917" sldId="266"/>
        </pc:sldMkLst>
      </pc:sldChg>
      <pc:sldChg chg="mod modShow">
        <pc:chgData name="Juan Jose Florez" userId="dd1ceb10-4736-4ec6-a13d-e0c84de6c4b1" providerId="ADAL" clId="{2C64E4FF-9E21-4C4E-BB9B-567DBA789E8E}" dt="2024-11-20T16:59:45.018" v="1136" actId="729"/>
        <pc:sldMkLst>
          <pc:docMk/>
          <pc:sldMk cId="1584666319" sldId="267"/>
        </pc:sldMkLst>
      </pc:sldChg>
      <pc:sldChg chg="mod modShow">
        <pc:chgData name="Juan Jose Florez" userId="dd1ceb10-4736-4ec6-a13d-e0c84de6c4b1" providerId="ADAL" clId="{2C64E4FF-9E21-4C4E-BB9B-567DBA789E8E}" dt="2024-11-20T16:59:58.545" v="1141" actId="729"/>
        <pc:sldMkLst>
          <pc:docMk/>
          <pc:sldMk cId="1729056101" sldId="268"/>
        </pc:sldMkLst>
      </pc:sldChg>
      <pc:sldChg chg="addSp delSp modSp new mod modClrScheme chgLayout">
        <pc:chgData name="Juan Jose Florez" userId="dd1ceb10-4736-4ec6-a13d-e0c84de6c4b1" providerId="ADAL" clId="{2C64E4FF-9E21-4C4E-BB9B-567DBA789E8E}" dt="2024-11-20T17:05:20.410" v="1192" actId="1076"/>
        <pc:sldMkLst>
          <pc:docMk/>
          <pc:sldMk cId="1507313190" sldId="269"/>
        </pc:sldMkLst>
      </pc:sldChg>
      <pc:sldChg chg="addSp delSp add del setBg delDesignElem">
        <pc:chgData name="Juan Jose Florez" userId="dd1ceb10-4736-4ec6-a13d-e0c84de6c4b1" providerId="ADAL" clId="{2C64E4FF-9E21-4C4E-BB9B-567DBA789E8E}" dt="2024-11-20T16:54:35.630" v="1087"/>
        <pc:sldMkLst>
          <pc:docMk/>
          <pc:sldMk cId="2921306764" sldId="270"/>
        </pc:sldMkLst>
      </pc:sldChg>
      <pc:sldChg chg="addSp delSp modSp new mod setBg delDesignElem modShow">
        <pc:chgData name="Juan Jose Florez" userId="dd1ceb10-4736-4ec6-a13d-e0c84de6c4b1" providerId="ADAL" clId="{2C64E4FF-9E21-4C4E-BB9B-567DBA789E8E}" dt="2024-11-20T17:04:22.572" v="1184"/>
        <pc:sldMkLst>
          <pc:docMk/>
          <pc:sldMk cId="3572601477" sldId="270"/>
        </pc:sldMkLst>
      </pc:sldChg>
    </pc:docChg>
  </pc:docChgLst>
  <pc:docChgLst>
    <pc:chgData name="Juan Jose Florez" userId="dd1ceb10-4736-4ec6-a13d-e0c84de6c4b1" providerId="ADAL" clId="{75641195-9B1D-47F9-A34A-CA79901B1BF3}"/>
    <pc:docChg chg="undo custSel addSld delSld modSld">
      <pc:chgData name="Juan Jose Florez" userId="dd1ceb10-4736-4ec6-a13d-e0c84de6c4b1" providerId="ADAL" clId="{75641195-9B1D-47F9-A34A-CA79901B1BF3}" dt="2025-05-02T20:31:00.331" v="1404" actId="729"/>
      <pc:docMkLst>
        <pc:docMk/>
      </pc:docMkLst>
      <pc:sldChg chg="modSp mod">
        <pc:chgData name="Juan Jose Florez" userId="dd1ceb10-4736-4ec6-a13d-e0c84de6c4b1" providerId="ADAL" clId="{75641195-9B1D-47F9-A34A-CA79901B1BF3}" dt="2024-12-09T13:47:53.061" v="1218" actId="20577"/>
        <pc:sldMkLst>
          <pc:docMk/>
          <pc:sldMk cId="3470377486" sldId="256"/>
        </pc:sldMkLst>
      </pc:sldChg>
      <pc:sldChg chg="modSp mod">
        <pc:chgData name="Juan Jose Florez" userId="dd1ceb10-4736-4ec6-a13d-e0c84de6c4b1" providerId="ADAL" clId="{75641195-9B1D-47F9-A34A-CA79901B1BF3}" dt="2024-12-09T13:49:12.961" v="1262" actId="20577"/>
        <pc:sldMkLst>
          <pc:docMk/>
          <pc:sldMk cId="2291962493" sldId="258"/>
        </pc:sldMkLst>
      </pc:sldChg>
      <pc:sldChg chg="modSp mod">
        <pc:chgData name="Juan Jose Florez" userId="dd1ceb10-4736-4ec6-a13d-e0c84de6c4b1" providerId="ADAL" clId="{75641195-9B1D-47F9-A34A-CA79901B1BF3}" dt="2024-12-09T19:31:01.505" v="1401" actId="1076"/>
        <pc:sldMkLst>
          <pc:docMk/>
          <pc:sldMk cId="1285201651" sldId="259"/>
        </pc:sldMkLst>
      </pc:sldChg>
      <pc:sldChg chg="modSp">
        <pc:chgData name="Juan Jose Florez" userId="dd1ceb10-4736-4ec6-a13d-e0c84de6c4b1" providerId="ADAL" clId="{75641195-9B1D-47F9-A34A-CA79901B1BF3}" dt="2024-12-09T18:41:48.686" v="1375" actId="20577"/>
        <pc:sldMkLst>
          <pc:docMk/>
          <pc:sldMk cId="933878530" sldId="260"/>
        </pc:sldMkLst>
      </pc:sldChg>
      <pc:sldChg chg="modSp mod modShow">
        <pc:chgData name="Juan Jose Florez" userId="dd1ceb10-4736-4ec6-a13d-e0c84de6c4b1" providerId="ADAL" clId="{75641195-9B1D-47F9-A34A-CA79901B1BF3}" dt="2025-05-02T20:31:00.331" v="1404" actId="729"/>
        <pc:sldMkLst>
          <pc:docMk/>
          <pc:sldMk cId="183349217" sldId="261"/>
        </pc:sldMkLst>
      </pc:sldChg>
      <pc:sldChg chg="addSp delSp modSp del mod">
        <pc:chgData name="Juan Jose Florez" userId="dd1ceb10-4736-4ec6-a13d-e0c84de6c4b1" providerId="ADAL" clId="{75641195-9B1D-47F9-A34A-CA79901B1BF3}" dt="2024-12-09T13:50:45.195" v="1263" actId="2696"/>
        <pc:sldMkLst>
          <pc:docMk/>
          <pc:sldMk cId="3980229620" sldId="262"/>
        </pc:sldMkLst>
      </pc:sldChg>
      <pc:sldChg chg="addSp delSp modSp del mod">
        <pc:chgData name="Juan Jose Florez" userId="dd1ceb10-4736-4ec6-a13d-e0c84de6c4b1" providerId="ADAL" clId="{75641195-9B1D-47F9-A34A-CA79901B1BF3}" dt="2024-12-09T13:50:45.195" v="1263" actId="2696"/>
        <pc:sldMkLst>
          <pc:docMk/>
          <pc:sldMk cId="2272060798" sldId="263"/>
        </pc:sldMkLst>
      </pc:sldChg>
      <pc:sldChg chg="addSp delSp modSp new del mod">
        <pc:chgData name="Juan Jose Florez" userId="dd1ceb10-4736-4ec6-a13d-e0c84de6c4b1" providerId="ADAL" clId="{75641195-9B1D-47F9-A34A-CA79901B1BF3}" dt="2024-12-09T13:50:45.195" v="1263" actId="2696"/>
        <pc:sldMkLst>
          <pc:docMk/>
          <pc:sldMk cId="1905793569" sldId="264"/>
        </pc:sldMkLst>
      </pc:sldChg>
      <pc:sldChg chg="addSp delSp modSp new del mod">
        <pc:chgData name="Juan Jose Florez" userId="dd1ceb10-4736-4ec6-a13d-e0c84de6c4b1" providerId="ADAL" clId="{75641195-9B1D-47F9-A34A-CA79901B1BF3}" dt="2024-12-09T13:50:45.195" v="1263" actId="2696"/>
        <pc:sldMkLst>
          <pc:docMk/>
          <pc:sldMk cId="1248506417" sldId="265"/>
        </pc:sldMkLst>
      </pc:sldChg>
      <pc:sldChg chg="add del">
        <pc:chgData name="Juan Jose Florez" userId="dd1ceb10-4736-4ec6-a13d-e0c84de6c4b1" providerId="ADAL" clId="{75641195-9B1D-47F9-A34A-CA79901B1BF3}" dt="2024-11-14T13:40:23.119" v="218"/>
        <pc:sldMkLst>
          <pc:docMk/>
          <pc:sldMk cId="547550139" sldId="266"/>
        </pc:sldMkLst>
      </pc:sldChg>
      <pc:sldChg chg="addSp delSp modSp new del mod">
        <pc:chgData name="Juan Jose Florez" userId="dd1ceb10-4736-4ec6-a13d-e0c84de6c4b1" providerId="ADAL" clId="{75641195-9B1D-47F9-A34A-CA79901B1BF3}" dt="2024-12-09T13:50:45.195" v="1263" actId="2696"/>
        <pc:sldMkLst>
          <pc:docMk/>
          <pc:sldMk cId="4231374917" sldId="266"/>
        </pc:sldMkLst>
      </pc:sldChg>
      <pc:sldChg chg="addSp delSp modSp new del mod">
        <pc:chgData name="Juan Jose Florez" userId="dd1ceb10-4736-4ec6-a13d-e0c84de6c4b1" providerId="ADAL" clId="{75641195-9B1D-47F9-A34A-CA79901B1BF3}" dt="2024-12-09T13:50:45.195" v="1263" actId="2696"/>
        <pc:sldMkLst>
          <pc:docMk/>
          <pc:sldMk cId="1584666319" sldId="267"/>
        </pc:sldMkLst>
      </pc:sldChg>
      <pc:sldChg chg="addSp delSp modSp new del mod">
        <pc:chgData name="Juan Jose Florez" userId="dd1ceb10-4736-4ec6-a13d-e0c84de6c4b1" providerId="ADAL" clId="{75641195-9B1D-47F9-A34A-CA79901B1BF3}" dt="2024-12-09T13:50:45.195" v="1263" actId="2696"/>
        <pc:sldMkLst>
          <pc:docMk/>
          <pc:sldMk cId="1729056101" sldId="268"/>
        </pc:sldMkLst>
      </pc:sldChg>
      <pc:sldChg chg="modSp mod">
        <pc:chgData name="Juan Jose Florez" userId="dd1ceb10-4736-4ec6-a13d-e0c84de6c4b1" providerId="ADAL" clId="{75641195-9B1D-47F9-A34A-CA79901B1BF3}" dt="2025-02-21T15:52:31.828" v="1403" actId="12385"/>
        <pc:sldMkLst>
          <pc:docMk/>
          <pc:sldMk cId="1507313190" sldId="269"/>
        </pc:sldMkLst>
        <pc:graphicFrameChg chg="mod modGraphic">
          <ac:chgData name="Juan Jose Florez" userId="dd1ceb10-4736-4ec6-a13d-e0c84de6c4b1" providerId="ADAL" clId="{75641195-9B1D-47F9-A34A-CA79901B1BF3}" dt="2025-02-21T15:52:31.828" v="1403" actId="12385"/>
          <ac:graphicFrameMkLst>
            <pc:docMk/>
            <pc:sldMk cId="1507313190" sldId="269"/>
            <ac:graphicFrameMk id="5" creationId="{A65E6D69-8565-A4C4-5E3B-3F0E54972CC7}"/>
          </ac:graphicFrameMkLst>
        </pc:graphicFrameChg>
      </pc:sldChg>
      <pc:sldChg chg="del">
        <pc:chgData name="Juan Jose Florez" userId="dd1ceb10-4736-4ec6-a13d-e0c84de6c4b1" providerId="ADAL" clId="{75641195-9B1D-47F9-A34A-CA79901B1BF3}" dt="2024-12-09T13:50:45.195" v="1263" actId="2696"/>
        <pc:sldMkLst>
          <pc:docMk/>
          <pc:sldMk cId="3572601477" sldId="270"/>
        </pc:sldMkLst>
      </pc:sldChg>
      <pc:sldChg chg="addSp delSp modSp new mod">
        <pc:chgData name="Juan Jose Florez" userId="dd1ceb10-4736-4ec6-a13d-e0c84de6c4b1" providerId="ADAL" clId="{75641195-9B1D-47F9-A34A-CA79901B1BF3}" dt="2024-12-09T13:51:33.341" v="1271" actId="1035"/>
        <pc:sldMkLst>
          <pc:docMk/>
          <pc:sldMk cId="1878327216" sldId="271"/>
        </pc:sldMkLst>
      </pc:sldChg>
      <pc:sldChg chg="addSp delSp modSp new del mod">
        <pc:chgData name="Juan Jose Florez" userId="dd1ceb10-4736-4ec6-a13d-e0c84de6c4b1" providerId="ADAL" clId="{75641195-9B1D-47F9-A34A-CA79901B1BF3}" dt="2024-12-09T18:42:10.813" v="1376" actId="47"/>
        <pc:sldMkLst>
          <pc:docMk/>
          <pc:sldMk cId="2221442393" sldId="272"/>
        </pc:sldMkLst>
      </pc:sldChg>
      <pc:sldChg chg="add">
        <pc:chgData name="Juan Jose Florez" userId="dd1ceb10-4736-4ec6-a13d-e0c84de6c4b1" providerId="ADAL" clId="{75641195-9B1D-47F9-A34A-CA79901B1BF3}" dt="2024-12-09T19:29:00.799" v="1399"/>
        <pc:sldMkLst>
          <pc:docMk/>
          <pc:sldMk cId="1551999944" sldId="29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400835-587B-4764-8660-1A50E9E34601}"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03667933-DF43-4A67-B54A-215C9C53DA05}">
      <dgm:prSet/>
      <dgm:spPr/>
      <dgm:t>
        <a:bodyPr/>
        <a:lstStyle/>
        <a:p>
          <a:r>
            <a:rPr lang="en-US" dirty="0"/>
            <a:t>Celerity Fiber bridges the gap between the rigidity of national providers like AT&amp;T and the resource limitations of smaller players like </a:t>
          </a:r>
          <a:r>
            <a:rPr lang="en-US" dirty="0" err="1"/>
            <a:t>Smartaira</a:t>
          </a:r>
          <a:r>
            <a:rPr lang="en-US" dirty="0"/>
            <a:t>. Our ability to combine </a:t>
          </a:r>
          <a:r>
            <a:rPr lang="en-US" b="1" dirty="0"/>
            <a:t>high-quality service, adaptable offerings, and a customer-first approach</a:t>
          </a:r>
          <a:r>
            <a:rPr lang="en-US" dirty="0"/>
            <a:t> ensures we stand out in the competitive South Florida MDU market.</a:t>
          </a:r>
        </a:p>
      </dgm:t>
    </dgm:pt>
    <dgm:pt modelId="{2F80DA48-1FC4-4A49-A694-AFB810A9F5C6}" type="parTrans" cxnId="{3B4C9730-6B19-4E8F-A606-EB18A9754CE8}">
      <dgm:prSet/>
      <dgm:spPr/>
      <dgm:t>
        <a:bodyPr/>
        <a:lstStyle/>
        <a:p>
          <a:endParaRPr lang="en-US"/>
        </a:p>
      </dgm:t>
    </dgm:pt>
    <dgm:pt modelId="{C80739C9-EEA7-4A7C-A2CF-FC2C9C1B0D53}" type="sibTrans" cxnId="{3B4C9730-6B19-4E8F-A606-EB18A9754CE8}">
      <dgm:prSet/>
      <dgm:spPr/>
      <dgm:t>
        <a:bodyPr/>
        <a:lstStyle/>
        <a:p>
          <a:endParaRPr lang="en-US"/>
        </a:p>
      </dgm:t>
    </dgm:pt>
    <dgm:pt modelId="{3331B27D-D845-4F6B-901A-C7AFF9C3F340}">
      <dgm:prSet/>
      <dgm:spPr/>
      <dgm:t>
        <a:bodyPr/>
        <a:lstStyle/>
        <a:p>
          <a:r>
            <a:rPr lang="en-US" dirty="0"/>
            <a:t>By prioritizing </a:t>
          </a:r>
          <a:r>
            <a:rPr lang="en-US" b="1" dirty="0"/>
            <a:t>flexibility, reliability, and tenant satisfaction</a:t>
          </a:r>
          <a:r>
            <a:rPr lang="en-US" dirty="0"/>
            <a:t>, Celerity Fiber is not just a provider—it’s a partner in the success of every property we serve, cementing our position as the </a:t>
          </a:r>
          <a:r>
            <a:rPr lang="en-US" b="1" dirty="0"/>
            <a:t>preferred choice for MDUs in South Florida.</a:t>
          </a:r>
          <a:endParaRPr lang="en-US" dirty="0"/>
        </a:p>
      </dgm:t>
    </dgm:pt>
    <dgm:pt modelId="{90A1CE7E-7C21-4A3D-AF99-A0DC9B343010}" type="parTrans" cxnId="{FB4DCE79-E3AB-45F8-9B1C-00A2FB1CBF1B}">
      <dgm:prSet/>
      <dgm:spPr/>
      <dgm:t>
        <a:bodyPr/>
        <a:lstStyle/>
        <a:p>
          <a:endParaRPr lang="en-US"/>
        </a:p>
      </dgm:t>
    </dgm:pt>
    <dgm:pt modelId="{13E44458-CAB9-4D2A-A790-18EE3CFBEFF5}" type="sibTrans" cxnId="{FB4DCE79-E3AB-45F8-9B1C-00A2FB1CBF1B}">
      <dgm:prSet/>
      <dgm:spPr/>
      <dgm:t>
        <a:bodyPr/>
        <a:lstStyle/>
        <a:p>
          <a:endParaRPr lang="en-US"/>
        </a:p>
      </dgm:t>
    </dgm:pt>
    <dgm:pt modelId="{F69094FD-ADCE-4FD4-A5F9-22A9A7E3223D}" type="pres">
      <dgm:prSet presAssocID="{2B400835-587B-4764-8660-1A50E9E34601}" presName="Name0" presStyleCnt="0">
        <dgm:presLayoutVars>
          <dgm:dir/>
          <dgm:animLvl val="lvl"/>
          <dgm:resizeHandles val="exact"/>
        </dgm:presLayoutVars>
      </dgm:prSet>
      <dgm:spPr/>
    </dgm:pt>
    <dgm:pt modelId="{D4410C8A-74A8-42A2-A102-1F70F23FC518}" type="pres">
      <dgm:prSet presAssocID="{03667933-DF43-4A67-B54A-215C9C53DA05}" presName="linNode" presStyleCnt="0"/>
      <dgm:spPr/>
    </dgm:pt>
    <dgm:pt modelId="{CAE1B0A0-3DD4-4D54-B59D-AA03FAC1308C}" type="pres">
      <dgm:prSet presAssocID="{03667933-DF43-4A67-B54A-215C9C53DA05}" presName="parentText" presStyleLbl="node1" presStyleIdx="0" presStyleCnt="2">
        <dgm:presLayoutVars>
          <dgm:chMax val="1"/>
          <dgm:bulletEnabled val="1"/>
        </dgm:presLayoutVars>
      </dgm:prSet>
      <dgm:spPr/>
    </dgm:pt>
    <dgm:pt modelId="{272FD25B-274E-42CC-BA1D-7FC0D9882C0F}" type="pres">
      <dgm:prSet presAssocID="{C80739C9-EEA7-4A7C-A2CF-FC2C9C1B0D53}" presName="sp" presStyleCnt="0"/>
      <dgm:spPr/>
    </dgm:pt>
    <dgm:pt modelId="{6DE89905-98DC-4718-961C-4FEDF0A6D248}" type="pres">
      <dgm:prSet presAssocID="{3331B27D-D845-4F6B-901A-C7AFF9C3F340}" presName="linNode" presStyleCnt="0"/>
      <dgm:spPr/>
    </dgm:pt>
    <dgm:pt modelId="{1C6B5029-9788-4361-85E9-0F855A221B90}" type="pres">
      <dgm:prSet presAssocID="{3331B27D-D845-4F6B-901A-C7AFF9C3F340}" presName="parentText" presStyleLbl="node1" presStyleIdx="1" presStyleCnt="2">
        <dgm:presLayoutVars>
          <dgm:chMax val="1"/>
          <dgm:bulletEnabled val="1"/>
        </dgm:presLayoutVars>
      </dgm:prSet>
      <dgm:spPr/>
    </dgm:pt>
  </dgm:ptLst>
  <dgm:cxnLst>
    <dgm:cxn modelId="{3E29F910-DAF7-4E6E-BDF3-B9E9C6B22801}" type="presOf" srcId="{2B400835-587B-4764-8660-1A50E9E34601}" destId="{F69094FD-ADCE-4FD4-A5F9-22A9A7E3223D}" srcOrd="0" destOrd="0" presId="urn:microsoft.com/office/officeart/2005/8/layout/vList5"/>
    <dgm:cxn modelId="{3B4C9730-6B19-4E8F-A606-EB18A9754CE8}" srcId="{2B400835-587B-4764-8660-1A50E9E34601}" destId="{03667933-DF43-4A67-B54A-215C9C53DA05}" srcOrd="0" destOrd="0" parTransId="{2F80DA48-1FC4-4A49-A694-AFB810A9F5C6}" sibTransId="{C80739C9-EEA7-4A7C-A2CF-FC2C9C1B0D53}"/>
    <dgm:cxn modelId="{05CA3D61-838F-4576-9610-6C4469588092}" type="presOf" srcId="{3331B27D-D845-4F6B-901A-C7AFF9C3F340}" destId="{1C6B5029-9788-4361-85E9-0F855A221B90}" srcOrd="0" destOrd="0" presId="urn:microsoft.com/office/officeart/2005/8/layout/vList5"/>
    <dgm:cxn modelId="{FB4DCE79-E3AB-45F8-9B1C-00A2FB1CBF1B}" srcId="{2B400835-587B-4764-8660-1A50E9E34601}" destId="{3331B27D-D845-4F6B-901A-C7AFF9C3F340}" srcOrd="1" destOrd="0" parTransId="{90A1CE7E-7C21-4A3D-AF99-A0DC9B343010}" sibTransId="{13E44458-CAB9-4D2A-A790-18EE3CFBEFF5}"/>
    <dgm:cxn modelId="{D63D75B9-031B-43BA-9D38-C5FC9C590DA7}" type="presOf" srcId="{03667933-DF43-4A67-B54A-215C9C53DA05}" destId="{CAE1B0A0-3DD4-4D54-B59D-AA03FAC1308C}" srcOrd="0" destOrd="0" presId="urn:microsoft.com/office/officeart/2005/8/layout/vList5"/>
    <dgm:cxn modelId="{4657321E-082E-4156-93AF-15DA693078D9}" type="presParOf" srcId="{F69094FD-ADCE-4FD4-A5F9-22A9A7E3223D}" destId="{D4410C8A-74A8-42A2-A102-1F70F23FC518}" srcOrd="0" destOrd="0" presId="urn:microsoft.com/office/officeart/2005/8/layout/vList5"/>
    <dgm:cxn modelId="{EA368CCF-8938-4F33-8E14-324925D66648}" type="presParOf" srcId="{D4410C8A-74A8-42A2-A102-1F70F23FC518}" destId="{CAE1B0A0-3DD4-4D54-B59D-AA03FAC1308C}" srcOrd="0" destOrd="0" presId="urn:microsoft.com/office/officeart/2005/8/layout/vList5"/>
    <dgm:cxn modelId="{6722C926-8874-4189-A9B4-63F5481C0A69}" type="presParOf" srcId="{F69094FD-ADCE-4FD4-A5F9-22A9A7E3223D}" destId="{272FD25B-274E-42CC-BA1D-7FC0D9882C0F}" srcOrd="1" destOrd="0" presId="urn:microsoft.com/office/officeart/2005/8/layout/vList5"/>
    <dgm:cxn modelId="{11C81125-BCD5-459D-A4AC-32C9B5FC6788}" type="presParOf" srcId="{F69094FD-ADCE-4FD4-A5F9-22A9A7E3223D}" destId="{6DE89905-98DC-4718-961C-4FEDF0A6D248}" srcOrd="2" destOrd="0" presId="urn:microsoft.com/office/officeart/2005/8/layout/vList5"/>
    <dgm:cxn modelId="{0F45EDA6-D5CD-49B1-90AF-097F3766CF26}" type="presParOf" srcId="{6DE89905-98DC-4718-961C-4FEDF0A6D248}" destId="{1C6B5029-9788-4361-85E9-0F855A221B90}"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048597-7929-4C46-AB57-1EEB88E5DA9C}" type="doc">
      <dgm:prSet loTypeId="urn:microsoft.com/office/officeart/2016/7/layout/VerticalHollowActionList" loCatId="List" qsTypeId="urn:microsoft.com/office/officeart/2005/8/quickstyle/simple1" qsCatId="simple" csTypeId="urn:microsoft.com/office/officeart/2005/8/colors/accent1_1" csCatId="accent1" phldr="1"/>
      <dgm:spPr/>
      <dgm:t>
        <a:bodyPr/>
        <a:lstStyle/>
        <a:p>
          <a:endParaRPr lang="en-US"/>
        </a:p>
      </dgm:t>
    </dgm:pt>
    <dgm:pt modelId="{44CA7A3C-A933-444B-9ACF-05D93DC7A760}">
      <dgm:prSet/>
      <dgm:spPr/>
      <dgm:t>
        <a:bodyPr/>
        <a:lstStyle/>
        <a:p>
          <a:r>
            <a:rPr lang="en-US" b="1"/>
            <a:t>Hotwire Communications</a:t>
          </a:r>
          <a:r>
            <a:rPr lang="en-US"/>
            <a:t>:</a:t>
          </a:r>
        </a:p>
      </dgm:t>
    </dgm:pt>
    <dgm:pt modelId="{D3D6A0B5-21E4-4571-91EC-0137E93C4E40}" type="parTrans" cxnId="{19148601-47DE-46CD-90F0-EFC646A6AB3D}">
      <dgm:prSet/>
      <dgm:spPr/>
      <dgm:t>
        <a:bodyPr/>
        <a:lstStyle/>
        <a:p>
          <a:endParaRPr lang="en-US"/>
        </a:p>
      </dgm:t>
    </dgm:pt>
    <dgm:pt modelId="{B3AF9BF1-D435-44D1-8081-76D5492144A2}" type="sibTrans" cxnId="{19148601-47DE-46CD-90F0-EFC646A6AB3D}">
      <dgm:prSet/>
      <dgm:spPr/>
      <dgm:t>
        <a:bodyPr/>
        <a:lstStyle/>
        <a:p>
          <a:endParaRPr lang="en-US"/>
        </a:p>
      </dgm:t>
    </dgm:pt>
    <dgm:pt modelId="{DBE4A7AB-606E-4B8F-A00E-62A1EF22F839}">
      <dgm:prSet/>
      <dgm:spPr/>
      <dgm:t>
        <a:bodyPr/>
        <a:lstStyle/>
        <a:p>
          <a:pPr>
            <a:lnSpc>
              <a:spcPct val="100000"/>
            </a:lnSpc>
          </a:pPr>
          <a:r>
            <a:rPr lang="en-US" dirty="0"/>
            <a:t>Hotwire specializes in bulk contracts for MDUs, offering symmetrical speeds of up to 10 Gbps. This is ideal for MDUs seeking a comprehensive solution for multiple residents, with dedicated support and a "Fiber-to-the-Home" infrastructure. The company stands out for its personalized and local services, particularly in areas like Miami.</a:t>
          </a:r>
        </a:p>
      </dgm:t>
    </dgm:pt>
    <dgm:pt modelId="{7EB228F4-633D-4FD4-986E-C7CA83829D72}" type="parTrans" cxnId="{6B462E84-F3F1-4FA8-B243-AC100B44F7B5}">
      <dgm:prSet/>
      <dgm:spPr/>
      <dgm:t>
        <a:bodyPr/>
        <a:lstStyle/>
        <a:p>
          <a:endParaRPr lang="en-US"/>
        </a:p>
      </dgm:t>
    </dgm:pt>
    <dgm:pt modelId="{1B7E9612-5C03-4F9D-A174-6F4A774B6C0B}" type="sibTrans" cxnId="{6B462E84-F3F1-4FA8-B243-AC100B44F7B5}">
      <dgm:prSet/>
      <dgm:spPr/>
      <dgm:t>
        <a:bodyPr/>
        <a:lstStyle/>
        <a:p>
          <a:endParaRPr lang="en-US"/>
        </a:p>
      </dgm:t>
    </dgm:pt>
    <dgm:pt modelId="{84968A5A-8FC5-4DC6-8877-ECCB3DBC9CD0}">
      <dgm:prSet/>
      <dgm:spPr/>
      <dgm:t>
        <a:bodyPr/>
        <a:lstStyle/>
        <a:p>
          <a:r>
            <a:rPr lang="en-US" b="1"/>
            <a:t>Blue Stream Fiber</a:t>
          </a:r>
          <a:r>
            <a:rPr lang="en-US"/>
            <a:t>:</a:t>
          </a:r>
        </a:p>
      </dgm:t>
    </dgm:pt>
    <dgm:pt modelId="{E557C8B4-C8A0-4F22-AD85-6215EF0B19E8}" type="parTrans" cxnId="{CA54B39F-3D91-4B27-A90A-865ABBC16E7D}">
      <dgm:prSet/>
      <dgm:spPr/>
      <dgm:t>
        <a:bodyPr/>
        <a:lstStyle/>
        <a:p>
          <a:endParaRPr lang="en-US"/>
        </a:p>
      </dgm:t>
    </dgm:pt>
    <dgm:pt modelId="{F5FA89D4-763B-4AA4-95C6-B6334370A435}" type="sibTrans" cxnId="{CA54B39F-3D91-4B27-A90A-865ABBC16E7D}">
      <dgm:prSet/>
      <dgm:spPr/>
      <dgm:t>
        <a:bodyPr/>
        <a:lstStyle/>
        <a:p>
          <a:endParaRPr lang="en-US"/>
        </a:p>
      </dgm:t>
    </dgm:pt>
    <dgm:pt modelId="{35C39690-DDCD-4726-8DBB-C6829CF2AE3F}">
      <dgm:prSet/>
      <dgm:spPr/>
      <dgm:t>
        <a:bodyPr/>
        <a:lstStyle/>
        <a:p>
          <a:pPr>
            <a:lnSpc>
              <a:spcPct val="100000"/>
            </a:lnSpc>
          </a:pPr>
          <a:r>
            <a:rPr lang="en-US"/>
            <a:t>Blue Stream offers a good balance between price and performance, with a 1 Gbps plan for only $50/month. Its download speeds are comparable to other major providers, but its upload speed (300 Mbps) could be a limiting factor. Nevertheless, its affordable plans are an advantage for smaller MDUs or those with less need for extremely high speeds.</a:t>
          </a:r>
        </a:p>
      </dgm:t>
    </dgm:pt>
    <dgm:pt modelId="{5F166BD9-9498-41D2-BD58-19D11D0ECCB6}" type="parTrans" cxnId="{DAFE8ADE-CB2B-4C32-8035-6027F7507177}">
      <dgm:prSet/>
      <dgm:spPr/>
      <dgm:t>
        <a:bodyPr/>
        <a:lstStyle/>
        <a:p>
          <a:endParaRPr lang="en-US"/>
        </a:p>
      </dgm:t>
    </dgm:pt>
    <dgm:pt modelId="{C6142328-4B76-4A02-ACF3-C8D86DC54197}" type="sibTrans" cxnId="{DAFE8ADE-CB2B-4C32-8035-6027F7507177}">
      <dgm:prSet/>
      <dgm:spPr/>
      <dgm:t>
        <a:bodyPr/>
        <a:lstStyle/>
        <a:p>
          <a:endParaRPr lang="en-US"/>
        </a:p>
      </dgm:t>
    </dgm:pt>
    <dgm:pt modelId="{6D42D48A-9223-4970-BF5B-1D13152F4CCE}">
      <dgm:prSet/>
      <dgm:spPr/>
      <dgm:t>
        <a:bodyPr/>
        <a:lstStyle/>
        <a:p>
          <a:r>
            <a:rPr lang="en-US" b="1"/>
            <a:t>Comcast (Xfinity)</a:t>
          </a:r>
          <a:r>
            <a:rPr lang="en-US"/>
            <a:t>:</a:t>
          </a:r>
        </a:p>
      </dgm:t>
    </dgm:pt>
    <dgm:pt modelId="{748D6F78-5185-4029-AFD4-6F52AC2F2E4F}" type="parTrans" cxnId="{DDB9BF58-8970-4433-B986-48FF56074D71}">
      <dgm:prSet/>
      <dgm:spPr/>
      <dgm:t>
        <a:bodyPr/>
        <a:lstStyle/>
        <a:p>
          <a:endParaRPr lang="en-US"/>
        </a:p>
      </dgm:t>
    </dgm:pt>
    <dgm:pt modelId="{8C2D198D-09E9-4592-B804-E9BCF4BCDF58}" type="sibTrans" cxnId="{DDB9BF58-8970-4433-B986-48FF56074D71}">
      <dgm:prSet/>
      <dgm:spPr/>
      <dgm:t>
        <a:bodyPr/>
        <a:lstStyle/>
        <a:p>
          <a:endParaRPr lang="en-US"/>
        </a:p>
      </dgm:t>
    </dgm:pt>
    <dgm:pt modelId="{B926C246-EAC0-47DA-A199-D6343A4C2691}">
      <dgm:prSet/>
      <dgm:spPr/>
      <dgm:t>
        <a:bodyPr/>
        <a:lstStyle/>
        <a:p>
          <a:pPr>
            <a:lnSpc>
              <a:spcPct val="100000"/>
            </a:lnSpc>
          </a:pPr>
          <a:r>
            <a:rPr lang="en-US"/>
            <a:t>Xfinity has extensive coverage in Florida, making it a reliable option for MDUs seeking fast access. However, its limitation in upload speeds (a maximum of 35 Mbps in most areas) can be a drawback for MDUs that rely on a symmetrical connection.</a:t>
          </a:r>
        </a:p>
      </dgm:t>
    </dgm:pt>
    <dgm:pt modelId="{15853398-BC9E-49F6-86C8-2CEDCBCF5B20}" type="parTrans" cxnId="{F5BC1D14-C888-42C1-8C61-12D8973F6158}">
      <dgm:prSet/>
      <dgm:spPr/>
      <dgm:t>
        <a:bodyPr/>
        <a:lstStyle/>
        <a:p>
          <a:endParaRPr lang="en-US"/>
        </a:p>
      </dgm:t>
    </dgm:pt>
    <dgm:pt modelId="{C1EF1916-A496-4084-A81E-567363A273FC}" type="sibTrans" cxnId="{F5BC1D14-C888-42C1-8C61-12D8973F6158}">
      <dgm:prSet/>
      <dgm:spPr/>
      <dgm:t>
        <a:bodyPr/>
        <a:lstStyle/>
        <a:p>
          <a:endParaRPr lang="en-US"/>
        </a:p>
      </dgm:t>
    </dgm:pt>
    <dgm:pt modelId="{B51FFEFF-CAA9-4C7A-9D54-778889D5AC6B}">
      <dgm:prSet/>
      <dgm:spPr/>
      <dgm:t>
        <a:bodyPr/>
        <a:lstStyle/>
        <a:p>
          <a:r>
            <a:rPr lang="en-US" b="1"/>
            <a:t>AT&amp;T Fiber</a:t>
          </a:r>
          <a:r>
            <a:rPr lang="en-US"/>
            <a:t>:</a:t>
          </a:r>
        </a:p>
      </dgm:t>
    </dgm:pt>
    <dgm:pt modelId="{311B130B-972C-446E-AD84-31EBCCCF4C05}" type="parTrans" cxnId="{D27E015E-1B9E-490B-8C2C-CC7AACD5DBB3}">
      <dgm:prSet/>
      <dgm:spPr/>
      <dgm:t>
        <a:bodyPr/>
        <a:lstStyle/>
        <a:p>
          <a:endParaRPr lang="en-US"/>
        </a:p>
      </dgm:t>
    </dgm:pt>
    <dgm:pt modelId="{D0919869-AA96-44ED-9407-9F86F7DB8B36}" type="sibTrans" cxnId="{D27E015E-1B9E-490B-8C2C-CC7AACD5DBB3}">
      <dgm:prSet/>
      <dgm:spPr/>
      <dgm:t>
        <a:bodyPr/>
        <a:lstStyle/>
        <a:p>
          <a:endParaRPr lang="en-US"/>
        </a:p>
      </dgm:t>
    </dgm:pt>
    <dgm:pt modelId="{4F0D8F37-6F8A-4FA1-94CB-9F404EF41183}">
      <dgm:prSet/>
      <dgm:spPr/>
      <dgm:t>
        <a:bodyPr/>
        <a:lstStyle/>
        <a:p>
          <a:pPr>
            <a:lnSpc>
              <a:spcPct val="100000"/>
            </a:lnSpc>
          </a:pPr>
          <a:r>
            <a:rPr lang="en-US"/>
            <a:t>AT&amp;T is known for offering good speeds at competitive prices. Its 300 Mbps plan is more affordable than most competitors and has the advantage of providing a fully fiber network, ensuring stable and symmetrical performance.</a:t>
          </a:r>
        </a:p>
      </dgm:t>
    </dgm:pt>
    <dgm:pt modelId="{450CC9B6-1F7F-4965-81C5-9134292DCF3D}" type="parTrans" cxnId="{035C8827-238C-4082-9254-675EDD7FB01E}">
      <dgm:prSet/>
      <dgm:spPr/>
      <dgm:t>
        <a:bodyPr/>
        <a:lstStyle/>
        <a:p>
          <a:endParaRPr lang="en-US"/>
        </a:p>
      </dgm:t>
    </dgm:pt>
    <dgm:pt modelId="{ECB02D45-1C8E-44CE-A208-EA9F41D10E2A}" type="sibTrans" cxnId="{035C8827-238C-4082-9254-675EDD7FB01E}">
      <dgm:prSet/>
      <dgm:spPr/>
      <dgm:t>
        <a:bodyPr/>
        <a:lstStyle/>
        <a:p>
          <a:endParaRPr lang="en-US"/>
        </a:p>
      </dgm:t>
    </dgm:pt>
    <dgm:pt modelId="{4A24FDC1-0B2D-4825-9047-9A1E6F0AF317}">
      <dgm:prSet/>
      <dgm:spPr/>
      <dgm:t>
        <a:bodyPr/>
        <a:lstStyle/>
        <a:p>
          <a:r>
            <a:rPr lang="es-CO" b="1" dirty="0" err="1"/>
            <a:t>Smartaira</a:t>
          </a:r>
          <a:r>
            <a:rPr lang="es-CO" b="1" dirty="0"/>
            <a:t>:</a:t>
          </a:r>
          <a:endParaRPr lang="en-US" b="1" dirty="0"/>
        </a:p>
      </dgm:t>
    </dgm:pt>
    <dgm:pt modelId="{34EB368C-CDE7-433E-AF9B-C1726F6EC1CF}" type="parTrans" cxnId="{0921F2A3-64C0-4184-902F-12D9A1D9558E}">
      <dgm:prSet/>
      <dgm:spPr/>
      <dgm:t>
        <a:bodyPr/>
        <a:lstStyle/>
        <a:p>
          <a:endParaRPr lang="en-US"/>
        </a:p>
      </dgm:t>
    </dgm:pt>
    <dgm:pt modelId="{E5E2C4BF-FCD1-408E-8BEA-775216035302}" type="sibTrans" cxnId="{0921F2A3-64C0-4184-902F-12D9A1D9558E}">
      <dgm:prSet/>
      <dgm:spPr/>
      <dgm:t>
        <a:bodyPr/>
        <a:lstStyle/>
        <a:p>
          <a:endParaRPr lang="en-US"/>
        </a:p>
      </dgm:t>
    </dgm:pt>
    <dgm:pt modelId="{B3153753-42F0-4A67-AEB4-522D5CC1FDE7}">
      <dgm:prSet/>
      <dgm:spPr/>
      <dgm:t>
        <a:bodyPr/>
        <a:lstStyle/>
        <a:p>
          <a:r>
            <a:rPr lang="en-US" b="0" dirty="0" err="1"/>
            <a:t>Smartaira’s</a:t>
          </a:r>
          <a:r>
            <a:rPr lang="en-US" b="0" dirty="0"/>
            <a:t> strength lies in its ability to deliver personalized, innovative solutions, but it must address its scale and brand visibility to truly challenge industry leaders and expand its footprint in the MDU market.</a:t>
          </a:r>
        </a:p>
      </dgm:t>
    </dgm:pt>
    <dgm:pt modelId="{B4F94930-452D-4E4B-98BF-0725C3EF9352}" type="parTrans" cxnId="{24A1DCA9-1640-4DBC-A5D4-8DC75B9C961E}">
      <dgm:prSet/>
      <dgm:spPr/>
      <dgm:t>
        <a:bodyPr/>
        <a:lstStyle/>
        <a:p>
          <a:endParaRPr lang="en-US"/>
        </a:p>
      </dgm:t>
    </dgm:pt>
    <dgm:pt modelId="{80500FF3-972E-4021-9D7B-6DADBBFE4736}" type="sibTrans" cxnId="{24A1DCA9-1640-4DBC-A5D4-8DC75B9C961E}">
      <dgm:prSet/>
      <dgm:spPr/>
      <dgm:t>
        <a:bodyPr/>
        <a:lstStyle/>
        <a:p>
          <a:endParaRPr lang="en-US"/>
        </a:p>
      </dgm:t>
    </dgm:pt>
    <dgm:pt modelId="{877EB8FE-29C8-42BB-830B-EE6D35EDDA34}" type="pres">
      <dgm:prSet presAssocID="{74048597-7929-4C46-AB57-1EEB88E5DA9C}" presName="Name0" presStyleCnt="0">
        <dgm:presLayoutVars>
          <dgm:dir/>
          <dgm:animLvl val="lvl"/>
          <dgm:resizeHandles val="exact"/>
        </dgm:presLayoutVars>
      </dgm:prSet>
      <dgm:spPr/>
    </dgm:pt>
    <dgm:pt modelId="{C93BB329-6594-4507-AA7E-E6505FFF1125}" type="pres">
      <dgm:prSet presAssocID="{44CA7A3C-A933-444B-9ACF-05D93DC7A760}" presName="linNode" presStyleCnt="0"/>
      <dgm:spPr/>
    </dgm:pt>
    <dgm:pt modelId="{E8105A40-FE52-4BC4-AFE6-55C7906F3748}" type="pres">
      <dgm:prSet presAssocID="{44CA7A3C-A933-444B-9ACF-05D93DC7A760}" presName="parentText" presStyleLbl="solidFgAcc1" presStyleIdx="0" presStyleCnt="5">
        <dgm:presLayoutVars>
          <dgm:chMax val="1"/>
          <dgm:bulletEnabled/>
        </dgm:presLayoutVars>
      </dgm:prSet>
      <dgm:spPr/>
    </dgm:pt>
    <dgm:pt modelId="{533A1360-D89F-4403-AAA3-6295C3DD4469}" type="pres">
      <dgm:prSet presAssocID="{44CA7A3C-A933-444B-9ACF-05D93DC7A760}" presName="descendantText" presStyleLbl="alignNode1" presStyleIdx="0" presStyleCnt="5">
        <dgm:presLayoutVars>
          <dgm:bulletEnabled/>
        </dgm:presLayoutVars>
      </dgm:prSet>
      <dgm:spPr/>
    </dgm:pt>
    <dgm:pt modelId="{6BBCBF7D-2331-4EF4-8197-14000E72C0EC}" type="pres">
      <dgm:prSet presAssocID="{B3AF9BF1-D435-44D1-8081-76D5492144A2}" presName="sp" presStyleCnt="0"/>
      <dgm:spPr/>
    </dgm:pt>
    <dgm:pt modelId="{85FA8BBB-8E07-448D-9ECE-733138666998}" type="pres">
      <dgm:prSet presAssocID="{84968A5A-8FC5-4DC6-8877-ECCB3DBC9CD0}" presName="linNode" presStyleCnt="0"/>
      <dgm:spPr/>
    </dgm:pt>
    <dgm:pt modelId="{4E387B71-4CE8-4002-8BF7-95D3F96C489E}" type="pres">
      <dgm:prSet presAssocID="{84968A5A-8FC5-4DC6-8877-ECCB3DBC9CD0}" presName="parentText" presStyleLbl="solidFgAcc1" presStyleIdx="1" presStyleCnt="5">
        <dgm:presLayoutVars>
          <dgm:chMax val="1"/>
          <dgm:bulletEnabled/>
        </dgm:presLayoutVars>
      </dgm:prSet>
      <dgm:spPr/>
    </dgm:pt>
    <dgm:pt modelId="{C94E8B73-276C-4725-992A-02C141B9CF1A}" type="pres">
      <dgm:prSet presAssocID="{84968A5A-8FC5-4DC6-8877-ECCB3DBC9CD0}" presName="descendantText" presStyleLbl="alignNode1" presStyleIdx="1" presStyleCnt="5">
        <dgm:presLayoutVars>
          <dgm:bulletEnabled/>
        </dgm:presLayoutVars>
      </dgm:prSet>
      <dgm:spPr/>
    </dgm:pt>
    <dgm:pt modelId="{F95EB77A-B060-498C-BB4B-55140DEE940C}" type="pres">
      <dgm:prSet presAssocID="{F5FA89D4-763B-4AA4-95C6-B6334370A435}" presName="sp" presStyleCnt="0"/>
      <dgm:spPr/>
    </dgm:pt>
    <dgm:pt modelId="{1838E28E-0157-4C8E-B068-A3981792A177}" type="pres">
      <dgm:prSet presAssocID="{6D42D48A-9223-4970-BF5B-1D13152F4CCE}" presName="linNode" presStyleCnt="0"/>
      <dgm:spPr/>
    </dgm:pt>
    <dgm:pt modelId="{5DEA83FF-F554-4FE0-A8DE-D0E601A583AB}" type="pres">
      <dgm:prSet presAssocID="{6D42D48A-9223-4970-BF5B-1D13152F4CCE}" presName="parentText" presStyleLbl="solidFgAcc1" presStyleIdx="2" presStyleCnt="5">
        <dgm:presLayoutVars>
          <dgm:chMax val="1"/>
          <dgm:bulletEnabled/>
        </dgm:presLayoutVars>
      </dgm:prSet>
      <dgm:spPr/>
    </dgm:pt>
    <dgm:pt modelId="{14319F85-C9F3-4D50-96C0-9BC232D060D3}" type="pres">
      <dgm:prSet presAssocID="{6D42D48A-9223-4970-BF5B-1D13152F4CCE}" presName="descendantText" presStyleLbl="alignNode1" presStyleIdx="2" presStyleCnt="5">
        <dgm:presLayoutVars>
          <dgm:bulletEnabled/>
        </dgm:presLayoutVars>
      </dgm:prSet>
      <dgm:spPr/>
    </dgm:pt>
    <dgm:pt modelId="{9A865BE5-E215-4E36-AA54-31448F828C8E}" type="pres">
      <dgm:prSet presAssocID="{8C2D198D-09E9-4592-B804-E9BCF4BCDF58}" presName="sp" presStyleCnt="0"/>
      <dgm:spPr/>
    </dgm:pt>
    <dgm:pt modelId="{E3AB8ACF-3D09-45EA-A564-39326A0F12CD}" type="pres">
      <dgm:prSet presAssocID="{B51FFEFF-CAA9-4C7A-9D54-778889D5AC6B}" presName="linNode" presStyleCnt="0"/>
      <dgm:spPr/>
    </dgm:pt>
    <dgm:pt modelId="{06A8209D-BFB6-4EBD-8CED-5F52C320A8BA}" type="pres">
      <dgm:prSet presAssocID="{B51FFEFF-CAA9-4C7A-9D54-778889D5AC6B}" presName="parentText" presStyleLbl="solidFgAcc1" presStyleIdx="3" presStyleCnt="5">
        <dgm:presLayoutVars>
          <dgm:chMax val="1"/>
          <dgm:bulletEnabled/>
        </dgm:presLayoutVars>
      </dgm:prSet>
      <dgm:spPr/>
    </dgm:pt>
    <dgm:pt modelId="{6DBDCC71-3F29-4357-A2C3-A7345C746A94}" type="pres">
      <dgm:prSet presAssocID="{B51FFEFF-CAA9-4C7A-9D54-778889D5AC6B}" presName="descendantText" presStyleLbl="alignNode1" presStyleIdx="3" presStyleCnt="5">
        <dgm:presLayoutVars>
          <dgm:bulletEnabled/>
        </dgm:presLayoutVars>
      </dgm:prSet>
      <dgm:spPr/>
    </dgm:pt>
    <dgm:pt modelId="{A19C0A5B-7B7E-440A-B422-F996D18A6A2A}" type="pres">
      <dgm:prSet presAssocID="{D0919869-AA96-44ED-9407-9F86F7DB8B36}" presName="sp" presStyleCnt="0"/>
      <dgm:spPr/>
    </dgm:pt>
    <dgm:pt modelId="{C1FE768C-6A0E-43E8-92FB-6D9EEB87BF64}" type="pres">
      <dgm:prSet presAssocID="{4A24FDC1-0B2D-4825-9047-9A1E6F0AF317}" presName="linNode" presStyleCnt="0"/>
      <dgm:spPr/>
    </dgm:pt>
    <dgm:pt modelId="{3BE881DE-6B88-4553-B839-955840B58695}" type="pres">
      <dgm:prSet presAssocID="{4A24FDC1-0B2D-4825-9047-9A1E6F0AF317}" presName="parentText" presStyleLbl="solidFgAcc1" presStyleIdx="4" presStyleCnt="5">
        <dgm:presLayoutVars>
          <dgm:chMax val="1"/>
          <dgm:bulletEnabled/>
        </dgm:presLayoutVars>
      </dgm:prSet>
      <dgm:spPr/>
    </dgm:pt>
    <dgm:pt modelId="{DF1F4F51-5BFA-4962-AEE2-72756F448224}" type="pres">
      <dgm:prSet presAssocID="{4A24FDC1-0B2D-4825-9047-9A1E6F0AF317}" presName="descendantText" presStyleLbl="alignNode1" presStyleIdx="4" presStyleCnt="5">
        <dgm:presLayoutVars>
          <dgm:bulletEnabled/>
        </dgm:presLayoutVars>
      </dgm:prSet>
      <dgm:spPr/>
    </dgm:pt>
  </dgm:ptLst>
  <dgm:cxnLst>
    <dgm:cxn modelId="{E9C41B01-9648-4065-B810-676FD3FC013D}" type="presOf" srcId="{4F0D8F37-6F8A-4FA1-94CB-9F404EF41183}" destId="{6DBDCC71-3F29-4357-A2C3-A7345C746A94}" srcOrd="0" destOrd="0" presId="urn:microsoft.com/office/officeart/2016/7/layout/VerticalHollowActionList"/>
    <dgm:cxn modelId="{05816C01-8599-4896-BF07-941065EE4CCC}" type="presOf" srcId="{B51FFEFF-CAA9-4C7A-9D54-778889D5AC6B}" destId="{06A8209D-BFB6-4EBD-8CED-5F52C320A8BA}" srcOrd="0" destOrd="0" presId="urn:microsoft.com/office/officeart/2016/7/layout/VerticalHollowActionList"/>
    <dgm:cxn modelId="{19148601-47DE-46CD-90F0-EFC646A6AB3D}" srcId="{74048597-7929-4C46-AB57-1EEB88E5DA9C}" destId="{44CA7A3C-A933-444B-9ACF-05D93DC7A760}" srcOrd="0" destOrd="0" parTransId="{D3D6A0B5-21E4-4571-91EC-0137E93C4E40}" sibTransId="{B3AF9BF1-D435-44D1-8081-76D5492144A2}"/>
    <dgm:cxn modelId="{6AA52507-8966-4347-983B-E52BFAB4893A}" type="presOf" srcId="{6D42D48A-9223-4970-BF5B-1D13152F4CCE}" destId="{5DEA83FF-F554-4FE0-A8DE-D0E601A583AB}" srcOrd="0" destOrd="0" presId="urn:microsoft.com/office/officeart/2016/7/layout/VerticalHollowActionList"/>
    <dgm:cxn modelId="{F5BC1D14-C888-42C1-8C61-12D8973F6158}" srcId="{6D42D48A-9223-4970-BF5B-1D13152F4CCE}" destId="{B926C246-EAC0-47DA-A199-D6343A4C2691}" srcOrd="0" destOrd="0" parTransId="{15853398-BC9E-49F6-86C8-2CEDCBCF5B20}" sibTransId="{C1EF1916-A496-4084-A81E-567363A273FC}"/>
    <dgm:cxn modelId="{E52EF625-C7EE-4ACC-B505-7C19B6D56A97}" type="presOf" srcId="{B3153753-42F0-4A67-AEB4-522D5CC1FDE7}" destId="{DF1F4F51-5BFA-4962-AEE2-72756F448224}" srcOrd="0" destOrd="0" presId="urn:microsoft.com/office/officeart/2016/7/layout/VerticalHollowActionList"/>
    <dgm:cxn modelId="{035C8827-238C-4082-9254-675EDD7FB01E}" srcId="{B51FFEFF-CAA9-4C7A-9D54-778889D5AC6B}" destId="{4F0D8F37-6F8A-4FA1-94CB-9F404EF41183}" srcOrd="0" destOrd="0" parTransId="{450CC9B6-1F7F-4965-81C5-9134292DCF3D}" sibTransId="{ECB02D45-1C8E-44CE-A208-EA9F41D10E2A}"/>
    <dgm:cxn modelId="{D27E015E-1B9E-490B-8C2C-CC7AACD5DBB3}" srcId="{74048597-7929-4C46-AB57-1EEB88E5DA9C}" destId="{B51FFEFF-CAA9-4C7A-9D54-778889D5AC6B}" srcOrd="3" destOrd="0" parTransId="{311B130B-972C-446E-AD84-31EBCCCF4C05}" sibTransId="{D0919869-AA96-44ED-9407-9F86F7DB8B36}"/>
    <dgm:cxn modelId="{FD5E9845-6EEC-4C1D-B391-6EA49D7621E2}" type="presOf" srcId="{DBE4A7AB-606E-4B8F-A00E-62A1EF22F839}" destId="{533A1360-D89F-4403-AAA3-6295C3DD4469}" srcOrd="0" destOrd="0" presId="urn:microsoft.com/office/officeart/2016/7/layout/VerticalHollowActionList"/>
    <dgm:cxn modelId="{C8872271-D2FD-4E0E-8BEE-DBF9886F26EE}" type="presOf" srcId="{74048597-7929-4C46-AB57-1EEB88E5DA9C}" destId="{877EB8FE-29C8-42BB-830B-EE6D35EDDA34}" srcOrd="0" destOrd="0" presId="urn:microsoft.com/office/officeart/2016/7/layout/VerticalHollowActionList"/>
    <dgm:cxn modelId="{DDB9BF58-8970-4433-B986-48FF56074D71}" srcId="{74048597-7929-4C46-AB57-1EEB88E5DA9C}" destId="{6D42D48A-9223-4970-BF5B-1D13152F4CCE}" srcOrd="2" destOrd="0" parTransId="{748D6F78-5185-4029-AFD4-6F52AC2F2E4F}" sibTransId="{8C2D198D-09E9-4592-B804-E9BCF4BCDF58}"/>
    <dgm:cxn modelId="{84F36F81-51C6-43AD-AF7B-4983473FA1DC}" type="presOf" srcId="{84968A5A-8FC5-4DC6-8877-ECCB3DBC9CD0}" destId="{4E387B71-4CE8-4002-8BF7-95D3F96C489E}" srcOrd="0" destOrd="0" presId="urn:microsoft.com/office/officeart/2016/7/layout/VerticalHollowActionList"/>
    <dgm:cxn modelId="{6B462E84-F3F1-4FA8-B243-AC100B44F7B5}" srcId="{44CA7A3C-A933-444B-9ACF-05D93DC7A760}" destId="{DBE4A7AB-606E-4B8F-A00E-62A1EF22F839}" srcOrd="0" destOrd="0" parTransId="{7EB228F4-633D-4FD4-986E-C7CA83829D72}" sibTransId="{1B7E9612-5C03-4F9D-A174-6F4A774B6C0B}"/>
    <dgm:cxn modelId="{23551E93-710E-477F-8FC5-DBC52D16C6A8}" type="presOf" srcId="{44CA7A3C-A933-444B-9ACF-05D93DC7A760}" destId="{E8105A40-FE52-4BC4-AFE6-55C7906F3748}" srcOrd="0" destOrd="0" presId="urn:microsoft.com/office/officeart/2016/7/layout/VerticalHollowActionList"/>
    <dgm:cxn modelId="{AA499793-1637-47CD-8884-9F5B6A2C5136}" type="presOf" srcId="{35C39690-DDCD-4726-8DBB-C6829CF2AE3F}" destId="{C94E8B73-276C-4725-992A-02C141B9CF1A}" srcOrd="0" destOrd="0" presId="urn:microsoft.com/office/officeart/2016/7/layout/VerticalHollowActionList"/>
    <dgm:cxn modelId="{CA54B39F-3D91-4B27-A90A-865ABBC16E7D}" srcId="{74048597-7929-4C46-AB57-1EEB88E5DA9C}" destId="{84968A5A-8FC5-4DC6-8877-ECCB3DBC9CD0}" srcOrd="1" destOrd="0" parTransId="{E557C8B4-C8A0-4F22-AD85-6215EF0B19E8}" sibTransId="{F5FA89D4-763B-4AA4-95C6-B6334370A435}"/>
    <dgm:cxn modelId="{0921F2A3-64C0-4184-902F-12D9A1D9558E}" srcId="{74048597-7929-4C46-AB57-1EEB88E5DA9C}" destId="{4A24FDC1-0B2D-4825-9047-9A1E6F0AF317}" srcOrd="4" destOrd="0" parTransId="{34EB368C-CDE7-433E-AF9B-C1726F6EC1CF}" sibTransId="{E5E2C4BF-FCD1-408E-8BEA-775216035302}"/>
    <dgm:cxn modelId="{3ED8EEA4-AB65-4862-82AA-5969C77E8916}" type="presOf" srcId="{4A24FDC1-0B2D-4825-9047-9A1E6F0AF317}" destId="{3BE881DE-6B88-4553-B839-955840B58695}" srcOrd="0" destOrd="0" presId="urn:microsoft.com/office/officeart/2016/7/layout/VerticalHollowActionList"/>
    <dgm:cxn modelId="{24A1DCA9-1640-4DBC-A5D4-8DC75B9C961E}" srcId="{4A24FDC1-0B2D-4825-9047-9A1E6F0AF317}" destId="{B3153753-42F0-4A67-AEB4-522D5CC1FDE7}" srcOrd="0" destOrd="0" parTransId="{B4F94930-452D-4E4B-98BF-0725C3EF9352}" sibTransId="{80500FF3-972E-4021-9D7B-6DADBBFE4736}"/>
    <dgm:cxn modelId="{DAFE8ADE-CB2B-4C32-8035-6027F7507177}" srcId="{84968A5A-8FC5-4DC6-8877-ECCB3DBC9CD0}" destId="{35C39690-DDCD-4726-8DBB-C6829CF2AE3F}" srcOrd="0" destOrd="0" parTransId="{5F166BD9-9498-41D2-BD58-19D11D0ECCB6}" sibTransId="{C6142328-4B76-4A02-ACF3-C8D86DC54197}"/>
    <dgm:cxn modelId="{712C78F2-74EF-448A-B5B3-517F0D7D45B3}" type="presOf" srcId="{B926C246-EAC0-47DA-A199-D6343A4C2691}" destId="{14319F85-C9F3-4D50-96C0-9BC232D060D3}" srcOrd="0" destOrd="0" presId="urn:microsoft.com/office/officeart/2016/7/layout/VerticalHollowActionList"/>
    <dgm:cxn modelId="{00CE47AF-CD65-421A-9CD4-D188928FF20D}" type="presParOf" srcId="{877EB8FE-29C8-42BB-830B-EE6D35EDDA34}" destId="{C93BB329-6594-4507-AA7E-E6505FFF1125}" srcOrd="0" destOrd="0" presId="urn:microsoft.com/office/officeart/2016/7/layout/VerticalHollowActionList"/>
    <dgm:cxn modelId="{360CE10B-455B-48E0-8DA6-B5B5A1817CD9}" type="presParOf" srcId="{C93BB329-6594-4507-AA7E-E6505FFF1125}" destId="{E8105A40-FE52-4BC4-AFE6-55C7906F3748}" srcOrd="0" destOrd="0" presId="urn:microsoft.com/office/officeart/2016/7/layout/VerticalHollowActionList"/>
    <dgm:cxn modelId="{1278CAE6-0532-4AD4-BEB8-0C9CEF8C6D54}" type="presParOf" srcId="{C93BB329-6594-4507-AA7E-E6505FFF1125}" destId="{533A1360-D89F-4403-AAA3-6295C3DD4469}" srcOrd="1" destOrd="0" presId="urn:microsoft.com/office/officeart/2016/7/layout/VerticalHollowActionList"/>
    <dgm:cxn modelId="{EB0AAF94-6BB2-4F6D-83FC-4C4F255C78AD}" type="presParOf" srcId="{877EB8FE-29C8-42BB-830B-EE6D35EDDA34}" destId="{6BBCBF7D-2331-4EF4-8197-14000E72C0EC}" srcOrd="1" destOrd="0" presId="urn:microsoft.com/office/officeart/2016/7/layout/VerticalHollowActionList"/>
    <dgm:cxn modelId="{2084A03C-9768-4DBB-8A4E-6F77F1286DEF}" type="presParOf" srcId="{877EB8FE-29C8-42BB-830B-EE6D35EDDA34}" destId="{85FA8BBB-8E07-448D-9ECE-733138666998}" srcOrd="2" destOrd="0" presId="urn:microsoft.com/office/officeart/2016/7/layout/VerticalHollowActionList"/>
    <dgm:cxn modelId="{50F08BEA-73A4-457B-82EC-ED6CE6186738}" type="presParOf" srcId="{85FA8BBB-8E07-448D-9ECE-733138666998}" destId="{4E387B71-4CE8-4002-8BF7-95D3F96C489E}" srcOrd="0" destOrd="0" presId="urn:microsoft.com/office/officeart/2016/7/layout/VerticalHollowActionList"/>
    <dgm:cxn modelId="{445CBB61-6378-4F58-9E45-FDC454027A31}" type="presParOf" srcId="{85FA8BBB-8E07-448D-9ECE-733138666998}" destId="{C94E8B73-276C-4725-992A-02C141B9CF1A}" srcOrd="1" destOrd="0" presId="urn:microsoft.com/office/officeart/2016/7/layout/VerticalHollowActionList"/>
    <dgm:cxn modelId="{5844E3B8-62FD-4989-8793-89192313DA60}" type="presParOf" srcId="{877EB8FE-29C8-42BB-830B-EE6D35EDDA34}" destId="{F95EB77A-B060-498C-BB4B-55140DEE940C}" srcOrd="3" destOrd="0" presId="urn:microsoft.com/office/officeart/2016/7/layout/VerticalHollowActionList"/>
    <dgm:cxn modelId="{5A972B38-6609-4DB5-8C62-A64D1B3610E5}" type="presParOf" srcId="{877EB8FE-29C8-42BB-830B-EE6D35EDDA34}" destId="{1838E28E-0157-4C8E-B068-A3981792A177}" srcOrd="4" destOrd="0" presId="urn:microsoft.com/office/officeart/2016/7/layout/VerticalHollowActionList"/>
    <dgm:cxn modelId="{E0A50E21-4D39-4683-8EBD-065F0B95EC1D}" type="presParOf" srcId="{1838E28E-0157-4C8E-B068-A3981792A177}" destId="{5DEA83FF-F554-4FE0-A8DE-D0E601A583AB}" srcOrd="0" destOrd="0" presId="urn:microsoft.com/office/officeart/2016/7/layout/VerticalHollowActionList"/>
    <dgm:cxn modelId="{CB611C29-6F3F-4CF3-8DAE-E05D64195599}" type="presParOf" srcId="{1838E28E-0157-4C8E-B068-A3981792A177}" destId="{14319F85-C9F3-4D50-96C0-9BC232D060D3}" srcOrd="1" destOrd="0" presId="urn:microsoft.com/office/officeart/2016/7/layout/VerticalHollowActionList"/>
    <dgm:cxn modelId="{D8092AD6-6AFC-4A23-BCBF-C3BFC894BF28}" type="presParOf" srcId="{877EB8FE-29C8-42BB-830B-EE6D35EDDA34}" destId="{9A865BE5-E215-4E36-AA54-31448F828C8E}" srcOrd="5" destOrd="0" presId="urn:microsoft.com/office/officeart/2016/7/layout/VerticalHollowActionList"/>
    <dgm:cxn modelId="{DACCDE93-17B0-418B-9AA1-5C96D44D0B8E}" type="presParOf" srcId="{877EB8FE-29C8-42BB-830B-EE6D35EDDA34}" destId="{E3AB8ACF-3D09-45EA-A564-39326A0F12CD}" srcOrd="6" destOrd="0" presId="urn:microsoft.com/office/officeart/2016/7/layout/VerticalHollowActionList"/>
    <dgm:cxn modelId="{49B3128B-D2DB-4721-B82C-36494805172D}" type="presParOf" srcId="{E3AB8ACF-3D09-45EA-A564-39326A0F12CD}" destId="{06A8209D-BFB6-4EBD-8CED-5F52C320A8BA}" srcOrd="0" destOrd="0" presId="urn:microsoft.com/office/officeart/2016/7/layout/VerticalHollowActionList"/>
    <dgm:cxn modelId="{5571D128-1649-4FEF-B72A-3F71C5F3DBC5}" type="presParOf" srcId="{E3AB8ACF-3D09-45EA-A564-39326A0F12CD}" destId="{6DBDCC71-3F29-4357-A2C3-A7345C746A94}" srcOrd="1" destOrd="0" presId="urn:microsoft.com/office/officeart/2016/7/layout/VerticalHollowActionList"/>
    <dgm:cxn modelId="{AD333C32-F358-4356-91CC-859DE36EDC10}" type="presParOf" srcId="{877EB8FE-29C8-42BB-830B-EE6D35EDDA34}" destId="{A19C0A5B-7B7E-440A-B422-F996D18A6A2A}" srcOrd="7" destOrd="0" presId="urn:microsoft.com/office/officeart/2016/7/layout/VerticalHollowActionList"/>
    <dgm:cxn modelId="{17ADDD11-F2BB-4315-8231-BB803841A54B}" type="presParOf" srcId="{877EB8FE-29C8-42BB-830B-EE6D35EDDA34}" destId="{C1FE768C-6A0E-43E8-92FB-6D9EEB87BF64}" srcOrd="8" destOrd="0" presId="urn:microsoft.com/office/officeart/2016/7/layout/VerticalHollowActionList"/>
    <dgm:cxn modelId="{072C2650-E04E-4F25-BDB5-5B004C0721AF}" type="presParOf" srcId="{C1FE768C-6A0E-43E8-92FB-6D9EEB87BF64}" destId="{3BE881DE-6B88-4553-B839-955840B58695}" srcOrd="0" destOrd="0" presId="urn:microsoft.com/office/officeart/2016/7/layout/VerticalHollowActionList"/>
    <dgm:cxn modelId="{3C279FFC-1A2A-40C6-AE78-D73D5D2E3D6D}" type="presParOf" srcId="{C1FE768C-6A0E-43E8-92FB-6D9EEB87BF64}" destId="{DF1F4F51-5BFA-4962-AEE2-72756F448224}"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ABF314-7F5A-4D7A-89B5-8B0B4394F81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BCC1D8A-0A0F-4AA3-A042-85D8BB4AF43C}">
      <dgm:prSet/>
      <dgm:spPr/>
      <dgm:t>
        <a:bodyPr/>
        <a:lstStyle/>
        <a:p>
          <a:r>
            <a:rPr lang="en-US" b="1"/>
            <a:t>Advantages:</a:t>
          </a:r>
          <a:endParaRPr lang="en-US"/>
        </a:p>
      </dgm:t>
    </dgm:pt>
    <dgm:pt modelId="{6BDEFBBC-B9B8-48A2-A129-8539CF41B283}" type="parTrans" cxnId="{90181515-C96E-433B-8E92-EA4BBB6ACDC6}">
      <dgm:prSet/>
      <dgm:spPr/>
      <dgm:t>
        <a:bodyPr/>
        <a:lstStyle/>
        <a:p>
          <a:endParaRPr lang="en-US"/>
        </a:p>
      </dgm:t>
    </dgm:pt>
    <dgm:pt modelId="{E6F4BE96-D184-4166-A03D-178D88B98F84}" type="sibTrans" cxnId="{90181515-C96E-433B-8E92-EA4BBB6ACDC6}">
      <dgm:prSet/>
      <dgm:spPr/>
      <dgm:t>
        <a:bodyPr/>
        <a:lstStyle/>
        <a:p>
          <a:endParaRPr lang="en-US"/>
        </a:p>
      </dgm:t>
    </dgm:pt>
    <dgm:pt modelId="{B94C3BAF-A64F-41CD-81C3-8E95618AD7EF}">
      <dgm:prSet/>
      <dgm:spPr/>
      <dgm:t>
        <a:bodyPr/>
        <a:lstStyle/>
        <a:p>
          <a:r>
            <a:rPr lang="en-US" b="1"/>
            <a:t>Local Expertise with Personalized Service: </a:t>
          </a:r>
          <a:r>
            <a:rPr lang="en-US"/>
            <a:t>Unlike national giants like AT&amp;T, we understand the nuanced needs of South Florida's MDU communities, delivering tailored solutions and faster response times.</a:t>
          </a:r>
        </a:p>
      </dgm:t>
    </dgm:pt>
    <dgm:pt modelId="{D119E93F-6970-456A-8600-A5C2558EB0C2}" type="parTrans" cxnId="{EC17B1C6-6714-4294-9538-7B6042B48098}">
      <dgm:prSet/>
      <dgm:spPr/>
      <dgm:t>
        <a:bodyPr/>
        <a:lstStyle/>
        <a:p>
          <a:endParaRPr lang="en-US"/>
        </a:p>
      </dgm:t>
    </dgm:pt>
    <dgm:pt modelId="{0BA5B9E0-0E2A-42AB-A4AE-140F7DB13342}" type="sibTrans" cxnId="{EC17B1C6-6714-4294-9538-7B6042B48098}">
      <dgm:prSet/>
      <dgm:spPr/>
      <dgm:t>
        <a:bodyPr/>
        <a:lstStyle/>
        <a:p>
          <a:endParaRPr lang="en-US"/>
        </a:p>
      </dgm:t>
    </dgm:pt>
    <dgm:pt modelId="{3B2C9862-873B-4969-84BD-77F4EA0C724B}">
      <dgm:prSet/>
      <dgm:spPr/>
      <dgm:t>
        <a:bodyPr/>
        <a:lstStyle/>
        <a:p>
          <a:r>
            <a:rPr lang="en-US" b="1" dirty="0"/>
            <a:t>Flexible and Adaptable Solutions: </a:t>
          </a:r>
          <a:r>
            <a:rPr lang="en-US" dirty="0"/>
            <a:t>Celerity Fiber excels where competitors fall short, offering customized contract terms and service packages to meet the diverse needs of property managers and developers.</a:t>
          </a:r>
        </a:p>
      </dgm:t>
    </dgm:pt>
    <dgm:pt modelId="{4F45D32C-3E55-48F2-B1CC-94EBF2BD50C9}" type="parTrans" cxnId="{28957FD5-0864-45E4-BAD3-B91896D00E1B}">
      <dgm:prSet/>
      <dgm:spPr/>
      <dgm:t>
        <a:bodyPr/>
        <a:lstStyle/>
        <a:p>
          <a:endParaRPr lang="en-US"/>
        </a:p>
      </dgm:t>
    </dgm:pt>
    <dgm:pt modelId="{8B1A6483-D2F1-42B6-9695-9AD41EB64FA3}" type="sibTrans" cxnId="{28957FD5-0864-45E4-BAD3-B91896D00E1B}">
      <dgm:prSet/>
      <dgm:spPr/>
      <dgm:t>
        <a:bodyPr/>
        <a:lstStyle/>
        <a:p>
          <a:endParaRPr lang="en-US"/>
        </a:p>
      </dgm:t>
    </dgm:pt>
    <dgm:pt modelId="{2D964A61-4EF4-42C4-8233-5C077809CE96}">
      <dgm:prSet/>
      <dgm:spPr/>
      <dgm:t>
        <a:bodyPr/>
        <a:lstStyle/>
        <a:p>
          <a:r>
            <a:rPr lang="en-US" b="1" dirty="0"/>
            <a:t>Superior Customer Experience: </a:t>
          </a:r>
          <a:r>
            <a:rPr lang="en-US" dirty="0"/>
            <a:t>While competitors often falter in customer service, our 24/7 in-house support ensures seamless tenant satisfaction and builds long-term trust with clients. Complemented with our account managers team, ready to help each property directly.</a:t>
          </a:r>
        </a:p>
      </dgm:t>
    </dgm:pt>
    <dgm:pt modelId="{DBED7970-1B0F-44ED-8CC1-D385AB36EC31}" type="parTrans" cxnId="{90CB72D7-83AC-4EB5-ABC1-46580BEDB138}">
      <dgm:prSet/>
      <dgm:spPr/>
      <dgm:t>
        <a:bodyPr/>
        <a:lstStyle/>
        <a:p>
          <a:endParaRPr lang="en-US"/>
        </a:p>
      </dgm:t>
    </dgm:pt>
    <dgm:pt modelId="{CE781EA5-3153-40C5-980F-E77A5DB5EBAD}" type="sibTrans" cxnId="{90CB72D7-83AC-4EB5-ABC1-46580BEDB138}">
      <dgm:prSet/>
      <dgm:spPr/>
      <dgm:t>
        <a:bodyPr/>
        <a:lstStyle/>
        <a:p>
          <a:endParaRPr lang="en-US"/>
        </a:p>
      </dgm:t>
    </dgm:pt>
    <dgm:pt modelId="{E3AE68F7-6E28-4A95-B365-B01C41EE5AF5}">
      <dgm:prSet/>
      <dgm:spPr/>
      <dgm:t>
        <a:bodyPr/>
        <a:lstStyle/>
        <a:p>
          <a:r>
            <a:rPr lang="en-US" b="1" dirty="0"/>
            <a:t>Strategic Scalability:</a:t>
          </a:r>
          <a:r>
            <a:rPr lang="en-US" dirty="0"/>
            <a:t> From mid-sized properties to luxury MDUs, Celerity Fiber’s solutions are designed to grow with the market, ensuring we remain relevant across all property sizes.</a:t>
          </a:r>
        </a:p>
      </dgm:t>
    </dgm:pt>
    <dgm:pt modelId="{2A5D1F68-DB1E-44E3-B1E5-5B8900746D64}" type="parTrans" cxnId="{CB9658CA-13AE-4EAC-BE83-BC7DFF48D8BE}">
      <dgm:prSet/>
      <dgm:spPr/>
      <dgm:t>
        <a:bodyPr/>
        <a:lstStyle/>
        <a:p>
          <a:endParaRPr lang="en-US"/>
        </a:p>
      </dgm:t>
    </dgm:pt>
    <dgm:pt modelId="{351C7A42-A6CC-4240-98D1-BFE930333661}" type="sibTrans" cxnId="{CB9658CA-13AE-4EAC-BE83-BC7DFF48D8BE}">
      <dgm:prSet/>
      <dgm:spPr/>
      <dgm:t>
        <a:bodyPr/>
        <a:lstStyle/>
        <a:p>
          <a:endParaRPr lang="en-US"/>
        </a:p>
      </dgm:t>
    </dgm:pt>
    <dgm:pt modelId="{E6116780-D12A-4FFB-8E12-2D3CD04DA561}">
      <dgm:prSet/>
      <dgm:spPr/>
      <dgm:t>
        <a:bodyPr/>
        <a:lstStyle/>
        <a:p>
          <a:r>
            <a:rPr lang="en-US" b="1"/>
            <a:t>Unmatched Value Proposition: </a:t>
          </a:r>
          <a:r>
            <a:rPr lang="en-US"/>
            <a:t>By pairing competitive pricing with premium features like managed WiFi and tenant-focused upgrades, we deliver high ROI to property owners while enhancing tenant retention.</a:t>
          </a:r>
        </a:p>
      </dgm:t>
    </dgm:pt>
    <dgm:pt modelId="{564E2FC9-0F59-438C-9D45-7A4FF7DF7416}" type="parTrans" cxnId="{56C745CD-F47A-49CD-AA82-34755331808E}">
      <dgm:prSet/>
      <dgm:spPr/>
      <dgm:t>
        <a:bodyPr/>
        <a:lstStyle/>
        <a:p>
          <a:endParaRPr lang="en-US"/>
        </a:p>
      </dgm:t>
    </dgm:pt>
    <dgm:pt modelId="{28FF156C-66B8-443B-8B85-654149F4414D}" type="sibTrans" cxnId="{56C745CD-F47A-49CD-AA82-34755331808E}">
      <dgm:prSet/>
      <dgm:spPr/>
      <dgm:t>
        <a:bodyPr/>
        <a:lstStyle/>
        <a:p>
          <a:endParaRPr lang="en-US"/>
        </a:p>
      </dgm:t>
    </dgm:pt>
    <dgm:pt modelId="{3F0AB89C-7D01-4386-95BE-5F8EDB39747B}">
      <dgm:prSet/>
      <dgm:spPr/>
      <dgm:t>
        <a:bodyPr/>
        <a:lstStyle/>
        <a:p>
          <a:r>
            <a:rPr lang="en-US" b="1"/>
            <a:t>Areas for Improvement:</a:t>
          </a:r>
          <a:endParaRPr lang="en-US"/>
        </a:p>
      </dgm:t>
    </dgm:pt>
    <dgm:pt modelId="{DBAE0E36-69A7-48E1-9E0A-082FFAB290E6}" type="parTrans" cxnId="{86EA6CB5-4988-42F4-9E22-51A4226A2C7B}">
      <dgm:prSet/>
      <dgm:spPr/>
      <dgm:t>
        <a:bodyPr/>
        <a:lstStyle/>
        <a:p>
          <a:endParaRPr lang="en-US"/>
        </a:p>
      </dgm:t>
    </dgm:pt>
    <dgm:pt modelId="{51961A57-0B1B-48B8-B2C4-9CFD0B834907}" type="sibTrans" cxnId="{86EA6CB5-4988-42F4-9E22-51A4226A2C7B}">
      <dgm:prSet/>
      <dgm:spPr/>
      <dgm:t>
        <a:bodyPr/>
        <a:lstStyle/>
        <a:p>
          <a:endParaRPr lang="en-US"/>
        </a:p>
      </dgm:t>
    </dgm:pt>
    <dgm:pt modelId="{EC8A4525-0213-4EDF-A271-B768FCE01DA3}">
      <dgm:prSet/>
      <dgm:spPr/>
      <dgm:t>
        <a:bodyPr/>
        <a:lstStyle/>
        <a:p>
          <a:r>
            <a:rPr lang="en-US" b="1"/>
            <a:t>Brand Visibility</a:t>
          </a:r>
          <a:r>
            <a:rPr lang="en-US"/>
            <a:t>: Celerity Fiber needs stronger positioning against more established brands like Hotwire and Bluestream, which have higher recognition in South Florida.</a:t>
          </a:r>
        </a:p>
      </dgm:t>
    </dgm:pt>
    <dgm:pt modelId="{A0C2AEFB-1D1E-4DEE-B9F3-D4819D3E84CB}" type="parTrans" cxnId="{63FF93DE-713F-4092-A3D0-F4E55391EBC9}">
      <dgm:prSet/>
      <dgm:spPr/>
      <dgm:t>
        <a:bodyPr/>
        <a:lstStyle/>
        <a:p>
          <a:endParaRPr lang="en-US"/>
        </a:p>
      </dgm:t>
    </dgm:pt>
    <dgm:pt modelId="{3F0FA38F-3535-4C24-BE0F-F220C74E0942}" type="sibTrans" cxnId="{63FF93DE-713F-4092-A3D0-F4E55391EBC9}">
      <dgm:prSet/>
      <dgm:spPr/>
      <dgm:t>
        <a:bodyPr/>
        <a:lstStyle/>
        <a:p>
          <a:endParaRPr lang="en-US"/>
        </a:p>
      </dgm:t>
    </dgm:pt>
    <dgm:pt modelId="{E687ED04-FB4B-47C0-B85A-10AD5361D42A}">
      <dgm:prSet/>
      <dgm:spPr/>
      <dgm:t>
        <a:bodyPr/>
        <a:lstStyle/>
        <a:p>
          <a:r>
            <a:rPr lang="en-US" b="1" dirty="0"/>
            <a:t>Expand Service Offerings</a:t>
          </a:r>
          <a:r>
            <a:rPr lang="en-US" dirty="0"/>
            <a:t>: Competitors offer more in bundled services and advanced home automation options, which could enhance Celerity’s appeal to tech-forward MDUs.</a:t>
          </a:r>
        </a:p>
      </dgm:t>
    </dgm:pt>
    <dgm:pt modelId="{9CF451FF-B176-43C1-B62A-C8441431819C}" type="parTrans" cxnId="{97C171A4-ECCF-4915-AD2C-D637A0C1521E}">
      <dgm:prSet/>
      <dgm:spPr/>
      <dgm:t>
        <a:bodyPr/>
        <a:lstStyle/>
        <a:p>
          <a:endParaRPr lang="en-US"/>
        </a:p>
      </dgm:t>
    </dgm:pt>
    <dgm:pt modelId="{393B7CFF-23E0-4D0B-A35C-AA5C54D9FA7E}" type="sibTrans" cxnId="{97C171A4-ECCF-4915-AD2C-D637A0C1521E}">
      <dgm:prSet/>
      <dgm:spPr/>
      <dgm:t>
        <a:bodyPr/>
        <a:lstStyle/>
        <a:p>
          <a:endParaRPr lang="en-US"/>
        </a:p>
      </dgm:t>
    </dgm:pt>
    <dgm:pt modelId="{0F42CD4B-30B6-48CD-B71C-430CD98FD018}" type="pres">
      <dgm:prSet presAssocID="{8BABF314-7F5A-4D7A-89B5-8B0B4394F815}" presName="linear" presStyleCnt="0">
        <dgm:presLayoutVars>
          <dgm:dir/>
          <dgm:animLvl val="lvl"/>
          <dgm:resizeHandles val="exact"/>
        </dgm:presLayoutVars>
      </dgm:prSet>
      <dgm:spPr/>
    </dgm:pt>
    <dgm:pt modelId="{D3394024-C82F-4706-B6EA-95368A0CD396}" type="pres">
      <dgm:prSet presAssocID="{ABCC1D8A-0A0F-4AA3-A042-85D8BB4AF43C}" presName="parentLin" presStyleCnt="0"/>
      <dgm:spPr/>
    </dgm:pt>
    <dgm:pt modelId="{C1DDD50D-BFCE-4A70-B297-24F1D9D1F985}" type="pres">
      <dgm:prSet presAssocID="{ABCC1D8A-0A0F-4AA3-A042-85D8BB4AF43C}" presName="parentLeftMargin" presStyleLbl="node1" presStyleIdx="0" presStyleCnt="2"/>
      <dgm:spPr/>
    </dgm:pt>
    <dgm:pt modelId="{B2701D5C-A14E-4DA2-9F3E-80D5B814793D}" type="pres">
      <dgm:prSet presAssocID="{ABCC1D8A-0A0F-4AA3-A042-85D8BB4AF43C}" presName="parentText" presStyleLbl="node1" presStyleIdx="0" presStyleCnt="2">
        <dgm:presLayoutVars>
          <dgm:chMax val="0"/>
          <dgm:bulletEnabled val="1"/>
        </dgm:presLayoutVars>
      </dgm:prSet>
      <dgm:spPr/>
    </dgm:pt>
    <dgm:pt modelId="{DF91B357-DF52-4B14-B5F6-9CA6ABB54F1C}" type="pres">
      <dgm:prSet presAssocID="{ABCC1D8A-0A0F-4AA3-A042-85D8BB4AF43C}" presName="negativeSpace" presStyleCnt="0"/>
      <dgm:spPr/>
    </dgm:pt>
    <dgm:pt modelId="{761D4734-1162-4C03-938C-A335AAA979BF}" type="pres">
      <dgm:prSet presAssocID="{ABCC1D8A-0A0F-4AA3-A042-85D8BB4AF43C}" presName="childText" presStyleLbl="conFgAcc1" presStyleIdx="0" presStyleCnt="2">
        <dgm:presLayoutVars>
          <dgm:bulletEnabled val="1"/>
        </dgm:presLayoutVars>
      </dgm:prSet>
      <dgm:spPr/>
    </dgm:pt>
    <dgm:pt modelId="{E8122D24-6E66-4400-8C33-F47D86DE8C30}" type="pres">
      <dgm:prSet presAssocID="{E6F4BE96-D184-4166-A03D-178D88B98F84}" presName="spaceBetweenRectangles" presStyleCnt="0"/>
      <dgm:spPr/>
    </dgm:pt>
    <dgm:pt modelId="{8D2AEB73-00DD-4665-A8C7-036228A045F3}" type="pres">
      <dgm:prSet presAssocID="{3F0AB89C-7D01-4386-95BE-5F8EDB39747B}" presName="parentLin" presStyleCnt="0"/>
      <dgm:spPr/>
    </dgm:pt>
    <dgm:pt modelId="{5EF041E8-F865-4FA4-A3D8-5B9A2B8D1F60}" type="pres">
      <dgm:prSet presAssocID="{3F0AB89C-7D01-4386-95BE-5F8EDB39747B}" presName="parentLeftMargin" presStyleLbl="node1" presStyleIdx="0" presStyleCnt="2"/>
      <dgm:spPr/>
    </dgm:pt>
    <dgm:pt modelId="{E2FDFA92-B686-45E4-AAEC-30B75B0F4B8E}" type="pres">
      <dgm:prSet presAssocID="{3F0AB89C-7D01-4386-95BE-5F8EDB39747B}" presName="parentText" presStyleLbl="node1" presStyleIdx="1" presStyleCnt="2">
        <dgm:presLayoutVars>
          <dgm:chMax val="0"/>
          <dgm:bulletEnabled val="1"/>
        </dgm:presLayoutVars>
      </dgm:prSet>
      <dgm:spPr/>
    </dgm:pt>
    <dgm:pt modelId="{D2109056-8854-44D1-A88E-3A979B40BB64}" type="pres">
      <dgm:prSet presAssocID="{3F0AB89C-7D01-4386-95BE-5F8EDB39747B}" presName="negativeSpace" presStyleCnt="0"/>
      <dgm:spPr/>
    </dgm:pt>
    <dgm:pt modelId="{63988E8A-712C-4DF3-8348-5C147BE9057A}" type="pres">
      <dgm:prSet presAssocID="{3F0AB89C-7D01-4386-95BE-5F8EDB39747B}" presName="childText" presStyleLbl="conFgAcc1" presStyleIdx="1" presStyleCnt="2">
        <dgm:presLayoutVars>
          <dgm:bulletEnabled val="1"/>
        </dgm:presLayoutVars>
      </dgm:prSet>
      <dgm:spPr/>
    </dgm:pt>
  </dgm:ptLst>
  <dgm:cxnLst>
    <dgm:cxn modelId="{90181515-C96E-433B-8E92-EA4BBB6ACDC6}" srcId="{8BABF314-7F5A-4D7A-89B5-8B0B4394F815}" destId="{ABCC1D8A-0A0F-4AA3-A042-85D8BB4AF43C}" srcOrd="0" destOrd="0" parTransId="{6BDEFBBC-B9B8-48A2-A129-8539CF41B283}" sibTransId="{E6F4BE96-D184-4166-A03D-178D88B98F84}"/>
    <dgm:cxn modelId="{BAD0E825-64B6-4275-AB6C-D08E54E7FF46}" type="presOf" srcId="{E687ED04-FB4B-47C0-B85A-10AD5361D42A}" destId="{63988E8A-712C-4DF3-8348-5C147BE9057A}" srcOrd="0" destOrd="1" presId="urn:microsoft.com/office/officeart/2005/8/layout/list1"/>
    <dgm:cxn modelId="{60779F2E-A5E0-4816-95AD-40BC0C9D400E}" type="presOf" srcId="{EC8A4525-0213-4EDF-A271-B768FCE01DA3}" destId="{63988E8A-712C-4DF3-8348-5C147BE9057A}" srcOrd="0" destOrd="0" presId="urn:microsoft.com/office/officeart/2005/8/layout/list1"/>
    <dgm:cxn modelId="{2103C233-C836-466C-A0CD-520613DFB641}" type="presOf" srcId="{2D964A61-4EF4-42C4-8233-5C077809CE96}" destId="{761D4734-1162-4C03-938C-A335AAA979BF}" srcOrd="0" destOrd="2" presId="urn:microsoft.com/office/officeart/2005/8/layout/list1"/>
    <dgm:cxn modelId="{F957C566-C640-4DB1-AFCD-EF89B081BB4D}" type="presOf" srcId="{ABCC1D8A-0A0F-4AA3-A042-85D8BB4AF43C}" destId="{C1DDD50D-BFCE-4A70-B297-24F1D9D1F985}" srcOrd="0" destOrd="0" presId="urn:microsoft.com/office/officeart/2005/8/layout/list1"/>
    <dgm:cxn modelId="{CA71F446-9A1E-4D1A-82A0-75065203FD0A}" type="presOf" srcId="{E3AE68F7-6E28-4A95-B365-B01C41EE5AF5}" destId="{761D4734-1162-4C03-938C-A335AAA979BF}" srcOrd="0" destOrd="3" presId="urn:microsoft.com/office/officeart/2005/8/layout/list1"/>
    <dgm:cxn modelId="{3D846A4C-250B-41C1-A113-901643AC449B}" type="presOf" srcId="{3F0AB89C-7D01-4386-95BE-5F8EDB39747B}" destId="{E2FDFA92-B686-45E4-AAEC-30B75B0F4B8E}" srcOrd="1" destOrd="0" presId="urn:microsoft.com/office/officeart/2005/8/layout/list1"/>
    <dgm:cxn modelId="{B5D95287-C218-47AA-AFB2-DD5B4B8A631B}" type="presOf" srcId="{3B2C9862-873B-4969-84BD-77F4EA0C724B}" destId="{761D4734-1162-4C03-938C-A335AAA979BF}" srcOrd="0" destOrd="1" presId="urn:microsoft.com/office/officeart/2005/8/layout/list1"/>
    <dgm:cxn modelId="{0E38EE90-ACF9-4D2F-A5BD-8D66120967CE}" type="presOf" srcId="{E6116780-D12A-4FFB-8E12-2D3CD04DA561}" destId="{761D4734-1162-4C03-938C-A335AAA979BF}" srcOrd="0" destOrd="4" presId="urn:microsoft.com/office/officeart/2005/8/layout/list1"/>
    <dgm:cxn modelId="{97C171A4-ECCF-4915-AD2C-D637A0C1521E}" srcId="{3F0AB89C-7D01-4386-95BE-5F8EDB39747B}" destId="{E687ED04-FB4B-47C0-B85A-10AD5361D42A}" srcOrd="1" destOrd="0" parTransId="{9CF451FF-B176-43C1-B62A-C8441431819C}" sibTransId="{393B7CFF-23E0-4D0B-A35C-AA5C54D9FA7E}"/>
    <dgm:cxn modelId="{E25E56AF-2664-42E1-837F-67207D6654B5}" type="presOf" srcId="{8BABF314-7F5A-4D7A-89B5-8B0B4394F815}" destId="{0F42CD4B-30B6-48CD-B71C-430CD98FD018}" srcOrd="0" destOrd="0" presId="urn:microsoft.com/office/officeart/2005/8/layout/list1"/>
    <dgm:cxn modelId="{86EA6CB5-4988-42F4-9E22-51A4226A2C7B}" srcId="{8BABF314-7F5A-4D7A-89B5-8B0B4394F815}" destId="{3F0AB89C-7D01-4386-95BE-5F8EDB39747B}" srcOrd="1" destOrd="0" parTransId="{DBAE0E36-69A7-48E1-9E0A-082FFAB290E6}" sibTransId="{51961A57-0B1B-48B8-B2C4-9CFD0B834907}"/>
    <dgm:cxn modelId="{EC17B1C6-6714-4294-9538-7B6042B48098}" srcId="{ABCC1D8A-0A0F-4AA3-A042-85D8BB4AF43C}" destId="{B94C3BAF-A64F-41CD-81C3-8E95618AD7EF}" srcOrd="0" destOrd="0" parTransId="{D119E93F-6970-456A-8600-A5C2558EB0C2}" sibTransId="{0BA5B9E0-0E2A-42AB-A4AE-140F7DB13342}"/>
    <dgm:cxn modelId="{CB9658CA-13AE-4EAC-BE83-BC7DFF48D8BE}" srcId="{ABCC1D8A-0A0F-4AA3-A042-85D8BB4AF43C}" destId="{E3AE68F7-6E28-4A95-B365-B01C41EE5AF5}" srcOrd="3" destOrd="0" parTransId="{2A5D1F68-DB1E-44E3-B1E5-5B8900746D64}" sibTransId="{351C7A42-A6CC-4240-98D1-BFE930333661}"/>
    <dgm:cxn modelId="{56C745CD-F47A-49CD-AA82-34755331808E}" srcId="{ABCC1D8A-0A0F-4AA3-A042-85D8BB4AF43C}" destId="{E6116780-D12A-4FFB-8E12-2D3CD04DA561}" srcOrd="4" destOrd="0" parTransId="{564E2FC9-0F59-438C-9D45-7A4FF7DF7416}" sibTransId="{28FF156C-66B8-443B-8B85-654149F4414D}"/>
    <dgm:cxn modelId="{E2C04FD0-D2FD-4298-B6B4-57C27A5E825B}" type="presOf" srcId="{3F0AB89C-7D01-4386-95BE-5F8EDB39747B}" destId="{5EF041E8-F865-4FA4-A3D8-5B9A2B8D1F60}" srcOrd="0" destOrd="0" presId="urn:microsoft.com/office/officeart/2005/8/layout/list1"/>
    <dgm:cxn modelId="{28957FD5-0864-45E4-BAD3-B91896D00E1B}" srcId="{ABCC1D8A-0A0F-4AA3-A042-85D8BB4AF43C}" destId="{3B2C9862-873B-4969-84BD-77F4EA0C724B}" srcOrd="1" destOrd="0" parTransId="{4F45D32C-3E55-48F2-B1CC-94EBF2BD50C9}" sibTransId="{8B1A6483-D2F1-42B6-9695-9AD41EB64FA3}"/>
    <dgm:cxn modelId="{90CB72D7-83AC-4EB5-ABC1-46580BEDB138}" srcId="{ABCC1D8A-0A0F-4AA3-A042-85D8BB4AF43C}" destId="{2D964A61-4EF4-42C4-8233-5C077809CE96}" srcOrd="2" destOrd="0" parTransId="{DBED7970-1B0F-44ED-8CC1-D385AB36EC31}" sibTransId="{CE781EA5-3153-40C5-980F-E77A5DB5EBAD}"/>
    <dgm:cxn modelId="{63FF93DE-713F-4092-A3D0-F4E55391EBC9}" srcId="{3F0AB89C-7D01-4386-95BE-5F8EDB39747B}" destId="{EC8A4525-0213-4EDF-A271-B768FCE01DA3}" srcOrd="0" destOrd="0" parTransId="{A0C2AEFB-1D1E-4DEE-B9F3-D4819D3E84CB}" sibTransId="{3F0FA38F-3535-4C24-BE0F-F220C74E0942}"/>
    <dgm:cxn modelId="{E07F6CE3-97DF-4980-80EC-7498A7672100}" type="presOf" srcId="{B94C3BAF-A64F-41CD-81C3-8E95618AD7EF}" destId="{761D4734-1162-4C03-938C-A335AAA979BF}" srcOrd="0" destOrd="0" presId="urn:microsoft.com/office/officeart/2005/8/layout/list1"/>
    <dgm:cxn modelId="{D4479FF0-C843-4B66-AFA5-135DEE5D7B67}" type="presOf" srcId="{ABCC1D8A-0A0F-4AA3-A042-85D8BB4AF43C}" destId="{B2701D5C-A14E-4DA2-9F3E-80D5B814793D}" srcOrd="1" destOrd="0" presId="urn:microsoft.com/office/officeart/2005/8/layout/list1"/>
    <dgm:cxn modelId="{D658D1D8-62EC-473E-A8E1-1CBCEAFA3794}" type="presParOf" srcId="{0F42CD4B-30B6-48CD-B71C-430CD98FD018}" destId="{D3394024-C82F-4706-B6EA-95368A0CD396}" srcOrd="0" destOrd="0" presId="urn:microsoft.com/office/officeart/2005/8/layout/list1"/>
    <dgm:cxn modelId="{87EB56DE-AFD3-41D0-80F2-C666A3B40C6A}" type="presParOf" srcId="{D3394024-C82F-4706-B6EA-95368A0CD396}" destId="{C1DDD50D-BFCE-4A70-B297-24F1D9D1F985}" srcOrd="0" destOrd="0" presId="urn:microsoft.com/office/officeart/2005/8/layout/list1"/>
    <dgm:cxn modelId="{B575BD2D-3241-4272-8CF6-910BDAAC7D71}" type="presParOf" srcId="{D3394024-C82F-4706-B6EA-95368A0CD396}" destId="{B2701D5C-A14E-4DA2-9F3E-80D5B814793D}" srcOrd="1" destOrd="0" presId="urn:microsoft.com/office/officeart/2005/8/layout/list1"/>
    <dgm:cxn modelId="{BD5FE4AF-938C-4D7F-9CE1-0A1C88484429}" type="presParOf" srcId="{0F42CD4B-30B6-48CD-B71C-430CD98FD018}" destId="{DF91B357-DF52-4B14-B5F6-9CA6ABB54F1C}" srcOrd="1" destOrd="0" presId="urn:microsoft.com/office/officeart/2005/8/layout/list1"/>
    <dgm:cxn modelId="{D465EA89-E484-4E23-9F3E-D54EBE7532D7}" type="presParOf" srcId="{0F42CD4B-30B6-48CD-B71C-430CD98FD018}" destId="{761D4734-1162-4C03-938C-A335AAA979BF}" srcOrd="2" destOrd="0" presId="urn:microsoft.com/office/officeart/2005/8/layout/list1"/>
    <dgm:cxn modelId="{F2247B30-E2FE-49D6-8EA5-CEB9CFB4BC1A}" type="presParOf" srcId="{0F42CD4B-30B6-48CD-B71C-430CD98FD018}" destId="{E8122D24-6E66-4400-8C33-F47D86DE8C30}" srcOrd="3" destOrd="0" presId="urn:microsoft.com/office/officeart/2005/8/layout/list1"/>
    <dgm:cxn modelId="{37DB52FC-6157-4DA5-BAB4-1F7705D7C57B}" type="presParOf" srcId="{0F42CD4B-30B6-48CD-B71C-430CD98FD018}" destId="{8D2AEB73-00DD-4665-A8C7-036228A045F3}" srcOrd="4" destOrd="0" presId="urn:microsoft.com/office/officeart/2005/8/layout/list1"/>
    <dgm:cxn modelId="{B6823AA1-837B-4A24-B0B0-5828D7D04BC5}" type="presParOf" srcId="{8D2AEB73-00DD-4665-A8C7-036228A045F3}" destId="{5EF041E8-F865-4FA4-A3D8-5B9A2B8D1F60}" srcOrd="0" destOrd="0" presId="urn:microsoft.com/office/officeart/2005/8/layout/list1"/>
    <dgm:cxn modelId="{88AF7F0F-F203-4AD2-9F3C-8D611ECFF169}" type="presParOf" srcId="{8D2AEB73-00DD-4665-A8C7-036228A045F3}" destId="{E2FDFA92-B686-45E4-AAEC-30B75B0F4B8E}" srcOrd="1" destOrd="0" presId="urn:microsoft.com/office/officeart/2005/8/layout/list1"/>
    <dgm:cxn modelId="{76C3E325-EEE8-4D77-B9F5-0A0DD75A5BB9}" type="presParOf" srcId="{0F42CD4B-30B6-48CD-B71C-430CD98FD018}" destId="{D2109056-8854-44D1-A88E-3A979B40BB64}" srcOrd="5" destOrd="0" presId="urn:microsoft.com/office/officeart/2005/8/layout/list1"/>
    <dgm:cxn modelId="{7824AA8A-7F70-41A7-8250-DB0EA84DE147}" type="presParOf" srcId="{0F42CD4B-30B6-48CD-B71C-430CD98FD018}" destId="{63988E8A-712C-4DF3-8348-5C147BE9057A}"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1B0A0-3DD4-4D54-B59D-AA03FAC1308C}">
      <dsp:nvSpPr>
        <dsp:cNvPr id="0" name=""/>
        <dsp:cNvSpPr/>
      </dsp:nvSpPr>
      <dsp:spPr>
        <a:xfrm>
          <a:off x="2089403" y="48"/>
          <a:ext cx="2350579" cy="19297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t>Celerity Fiber bridges the gap between the rigidity of national providers like AT&amp;T and the resource limitations of smaller players like </a:t>
          </a:r>
          <a:r>
            <a:rPr lang="en-US" sz="1200" kern="1200" dirty="0" err="1"/>
            <a:t>Smartaira</a:t>
          </a:r>
          <a:r>
            <a:rPr lang="en-US" sz="1200" kern="1200" dirty="0"/>
            <a:t>. Our ability to combine </a:t>
          </a:r>
          <a:r>
            <a:rPr lang="en-US" sz="1200" b="1" kern="1200" dirty="0"/>
            <a:t>high-quality service, adaptable offerings, and a customer-first approach</a:t>
          </a:r>
          <a:r>
            <a:rPr lang="en-US" sz="1200" kern="1200" dirty="0"/>
            <a:t> ensures we stand out in the competitive South Florida MDU market.</a:t>
          </a:r>
        </a:p>
      </dsp:txBody>
      <dsp:txXfrm>
        <a:off x="2183605" y="94250"/>
        <a:ext cx="2162175" cy="1741329"/>
      </dsp:txXfrm>
    </dsp:sp>
    <dsp:sp modelId="{1C6B5029-9788-4361-85E9-0F855A221B90}">
      <dsp:nvSpPr>
        <dsp:cNvPr id="0" name=""/>
        <dsp:cNvSpPr/>
      </dsp:nvSpPr>
      <dsp:spPr>
        <a:xfrm>
          <a:off x="2089403" y="2026268"/>
          <a:ext cx="2350579" cy="19297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t>By prioritizing </a:t>
          </a:r>
          <a:r>
            <a:rPr lang="en-US" sz="1200" b="1" kern="1200" dirty="0"/>
            <a:t>flexibility, reliability, and tenant satisfaction</a:t>
          </a:r>
          <a:r>
            <a:rPr lang="en-US" sz="1200" kern="1200" dirty="0"/>
            <a:t>, Celerity Fiber is not just a provider—it’s a partner in the success of every property we serve, cementing our position as the </a:t>
          </a:r>
          <a:r>
            <a:rPr lang="en-US" sz="1200" b="1" kern="1200" dirty="0"/>
            <a:t>preferred choice for MDUs in South Florida.</a:t>
          </a:r>
          <a:endParaRPr lang="en-US" sz="1200" kern="1200" dirty="0"/>
        </a:p>
      </dsp:txBody>
      <dsp:txXfrm>
        <a:off x="2183605" y="2120470"/>
        <a:ext cx="2162175" cy="17413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3A1360-D89F-4403-AAA3-6295C3DD4469}">
      <dsp:nvSpPr>
        <dsp:cNvPr id="0" name=""/>
        <dsp:cNvSpPr/>
      </dsp:nvSpPr>
      <dsp:spPr>
        <a:xfrm>
          <a:off x="2043216" y="1582"/>
          <a:ext cx="8172864" cy="69456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576" tIns="176419" rIns="158576" bIns="176419" numCol="1" spcCol="1270" anchor="ctr" anchorCtr="0">
          <a:noAutofit/>
        </a:bodyPr>
        <a:lstStyle/>
        <a:p>
          <a:pPr marL="0" lvl="0" indent="0" algn="l" defTabSz="488950">
            <a:lnSpc>
              <a:spcPct val="100000"/>
            </a:lnSpc>
            <a:spcBef>
              <a:spcPct val="0"/>
            </a:spcBef>
            <a:spcAft>
              <a:spcPct val="35000"/>
            </a:spcAft>
            <a:buNone/>
          </a:pPr>
          <a:r>
            <a:rPr lang="en-US" sz="1100" kern="1200" dirty="0"/>
            <a:t>Hotwire specializes in bulk contracts for MDUs, offering symmetrical speeds of up to 10 Gbps. This is ideal for MDUs seeking a comprehensive solution for multiple residents, with dedicated support and a "Fiber-to-the-Home" infrastructure. The company stands out for its personalized and local services, particularly in areas like Miami.</a:t>
          </a:r>
        </a:p>
      </dsp:txBody>
      <dsp:txXfrm>
        <a:off x="2043216" y="1582"/>
        <a:ext cx="8172864" cy="694561"/>
      </dsp:txXfrm>
    </dsp:sp>
    <dsp:sp modelId="{E8105A40-FE52-4BC4-AFE6-55C7906F3748}">
      <dsp:nvSpPr>
        <dsp:cNvPr id="0" name=""/>
        <dsp:cNvSpPr/>
      </dsp:nvSpPr>
      <dsp:spPr>
        <a:xfrm>
          <a:off x="0" y="1582"/>
          <a:ext cx="2043216" cy="69456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8120" tIns="68607" rIns="108120" bIns="68607" numCol="1" spcCol="1270" anchor="ctr" anchorCtr="0">
          <a:noAutofit/>
        </a:bodyPr>
        <a:lstStyle/>
        <a:p>
          <a:pPr marL="0" lvl="0" indent="0" algn="ctr" defTabSz="622300">
            <a:lnSpc>
              <a:spcPct val="90000"/>
            </a:lnSpc>
            <a:spcBef>
              <a:spcPct val="0"/>
            </a:spcBef>
            <a:spcAft>
              <a:spcPct val="35000"/>
            </a:spcAft>
            <a:buNone/>
          </a:pPr>
          <a:r>
            <a:rPr lang="en-US" sz="1400" b="1" kern="1200"/>
            <a:t>Hotwire Communications</a:t>
          </a:r>
          <a:r>
            <a:rPr lang="en-US" sz="1400" kern="1200"/>
            <a:t>:</a:t>
          </a:r>
        </a:p>
      </dsp:txBody>
      <dsp:txXfrm>
        <a:off x="0" y="1582"/>
        <a:ext cx="2043216" cy="694561"/>
      </dsp:txXfrm>
    </dsp:sp>
    <dsp:sp modelId="{C94E8B73-276C-4725-992A-02C141B9CF1A}">
      <dsp:nvSpPr>
        <dsp:cNvPr id="0" name=""/>
        <dsp:cNvSpPr/>
      </dsp:nvSpPr>
      <dsp:spPr>
        <a:xfrm>
          <a:off x="2043216" y="737818"/>
          <a:ext cx="8172864" cy="69456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576" tIns="176419" rIns="158576" bIns="176419" numCol="1" spcCol="1270" anchor="ctr" anchorCtr="0">
          <a:noAutofit/>
        </a:bodyPr>
        <a:lstStyle/>
        <a:p>
          <a:pPr marL="0" lvl="0" indent="0" algn="l" defTabSz="488950">
            <a:lnSpc>
              <a:spcPct val="100000"/>
            </a:lnSpc>
            <a:spcBef>
              <a:spcPct val="0"/>
            </a:spcBef>
            <a:spcAft>
              <a:spcPct val="35000"/>
            </a:spcAft>
            <a:buNone/>
          </a:pPr>
          <a:r>
            <a:rPr lang="en-US" sz="1100" kern="1200"/>
            <a:t>Blue Stream offers a good balance between price and performance, with a 1 Gbps plan for only $50/month. Its download speeds are comparable to other major providers, but its upload speed (300 Mbps) could be a limiting factor. Nevertheless, its affordable plans are an advantage for smaller MDUs or those with less need for extremely high speeds.</a:t>
          </a:r>
        </a:p>
      </dsp:txBody>
      <dsp:txXfrm>
        <a:off x="2043216" y="737818"/>
        <a:ext cx="8172864" cy="694561"/>
      </dsp:txXfrm>
    </dsp:sp>
    <dsp:sp modelId="{4E387B71-4CE8-4002-8BF7-95D3F96C489E}">
      <dsp:nvSpPr>
        <dsp:cNvPr id="0" name=""/>
        <dsp:cNvSpPr/>
      </dsp:nvSpPr>
      <dsp:spPr>
        <a:xfrm>
          <a:off x="0" y="737818"/>
          <a:ext cx="2043216" cy="69456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8120" tIns="68607" rIns="108120" bIns="68607" numCol="1" spcCol="1270" anchor="ctr" anchorCtr="0">
          <a:noAutofit/>
        </a:bodyPr>
        <a:lstStyle/>
        <a:p>
          <a:pPr marL="0" lvl="0" indent="0" algn="ctr" defTabSz="622300">
            <a:lnSpc>
              <a:spcPct val="90000"/>
            </a:lnSpc>
            <a:spcBef>
              <a:spcPct val="0"/>
            </a:spcBef>
            <a:spcAft>
              <a:spcPct val="35000"/>
            </a:spcAft>
            <a:buNone/>
          </a:pPr>
          <a:r>
            <a:rPr lang="en-US" sz="1400" b="1" kern="1200"/>
            <a:t>Blue Stream Fiber</a:t>
          </a:r>
          <a:r>
            <a:rPr lang="en-US" sz="1400" kern="1200"/>
            <a:t>:</a:t>
          </a:r>
        </a:p>
      </dsp:txBody>
      <dsp:txXfrm>
        <a:off x="0" y="737818"/>
        <a:ext cx="2043216" cy="694561"/>
      </dsp:txXfrm>
    </dsp:sp>
    <dsp:sp modelId="{14319F85-C9F3-4D50-96C0-9BC232D060D3}">
      <dsp:nvSpPr>
        <dsp:cNvPr id="0" name=""/>
        <dsp:cNvSpPr/>
      </dsp:nvSpPr>
      <dsp:spPr>
        <a:xfrm>
          <a:off x="2043216" y="1474053"/>
          <a:ext cx="8172864" cy="69456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576" tIns="176419" rIns="158576" bIns="176419" numCol="1" spcCol="1270" anchor="ctr" anchorCtr="0">
          <a:noAutofit/>
        </a:bodyPr>
        <a:lstStyle/>
        <a:p>
          <a:pPr marL="0" lvl="0" indent="0" algn="l" defTabSz="488950">
            <a:lnSpc>
              <a:spcPct val="100000"/>
            </a:lnSpc>
            <a:spcBef>
              <a:spcPct val="0"/>
            </a:spcBef>
            <a:spcAft>
              <a:spcPct val="35000"/>
            </a:spcAft>
            <a:buNone/>
          </a:pPr>
          <a:r>
            <a:rPr lang="en-US" sz="1100" kern="1200"/>
            <a:t>Xfinity has extensive coverage in Florida, making it a reliable option for MDUs seeking fast access. However, its limitation in upload speeds (a maximum of 35 Mbps in most areas) can be a drawback for MDUs that rely on a symmetrical connection.</a:t>
          </a:r>
        </a:p>
      </dsp:txBody>
      <dsp:txXfrm>
        <a:off x="2043216" y="1474053"/>
        <a:ext cx="8172864" cy="694561"/>
      </dsp:txXfrm>
    </dsp:sp>
    <dsp:sp modelId="{5DEA83FF-F554-4FE0-A8DE-D0E601A583AB}">
      <dsp:nvSpPr>
        <dsp:cNvPr id="0" name=""/>
        <dsp:cNvSpPr/>
      </dsp:nvSpPr>
      <dsp:spPr>
        <a:xfrm>
          <a:off x="0" y="1474053"/>
          <a:ext cx="2043216" cy="69456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8120" tIns="68607" rIns="108120" bIns="68607" numCol="1" spcCol="1270" anchor="ctr" anchorCtr="0">
          <a:noAutofit/>
        </a:bodyPr>
        <a:lstStyle/>
        <a:p>
          <a:pPr marL="0" lvl="0" indent="0" algn="ctr" defTabSz="622300">
            <a:lnSpc>
              <a:spcPct val="90000"/>
            </a:lnSpc>
            <a:spcBef>
              <a:spcPct val="0"/>
            </a:spcBef>
            <a:spcAft>
              <a:spcPct val="35000"/>
            </a:spcAft>
            <a:buNone/>
          </a:pPr>
          <a:r>
            <a:rPr lang="en-US" sz="1400" b="1" kern="1200"/>
            <a:t>Comcast (Xfinity)</a:t>
          </a:r>
          <a:r>
            <a:rPr lang="en-US" sz="1400" kern="1200"/>
            <a:t>:</a:t>
          </a:r>
        </a:p>
      </dsp:txBody>
      <dsp:txXfrm>
        <a:off x="0" y="1474053"/>
        <a:ext cx="2043216" cy="694561"/>
      </dsp:txXfrm>
    </dsp:sp>
    <dsp:sp modelId="{6DBDCC71-3F29-4357-A2C3-A7345C746A94}">
      <dsp:nvSpPr>
        <dsp:cNvPr id="0" name=""/>
        <dsp:cNvSpPr/>
      </dsp:nvSpPr>
      <dsp:spPr>
        <a:xfrm>
          <a:off x="2043216" y="2210288"/>
          <a:ext cx="8172864" cy="69456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576" tIns="176419" rIns="158576" bIns="176419" numCol="1" spcCol="1270" anchor="ctr" anchorCtr="0">
          <a:noAutofit/>
        </a:bodyPr>
        <a:lstStyle/>
        <a:p>
          <a:pPr marL="0" lvl="0" indent="0" algn="l" defTabSz="488950">
            <a:lnSpc>
              <a:spcPct val="100000"/>
            </a:lnSpc>
            <a:spcBef>
              <a:spcPct val="0"/>
            </a:spcBef>
            <a:spcAft>
              <a:spcPct val="35000"/>
            </a:spcAft>
            <a:buNone/>
          </a:pPr>
          <a:r>
            <a:rPr lang="en-US" sz="1100" kern="1200"/>
            <a:t>AT&amp;T is known for offering good speeds at competitive prices. Its 300 Mbps plan is more affordable than most competitors and has the advantage of providing a fully fiber network, ensuring stable and symmetrical performance.</a:t>
          </a:r>
        </a:p>
      </dsp:txBody>
      <dsp:txXfrm>
        <a:off x="2043216" y="2210288"/>
        <a:ext cx="8172864" cy="694561"/>
      </dsp:txXfrm>
    </dsp:sp>
    <dsp:sp modelId="{06A8209D-BFB6-4EBD-8CED-5F52C320A8BA}">
      <dsp:nvSpPr>
        <dsp:cNvPr id="0" name=""/>
        <dsp:cNvSpPr/>
      </dsp:nvSpPr>
      <dsp:spPr>
        <a:xfrm>
          <a:off x="0" y="2210288"/>
          <a:ext cx="2043216" cy="69456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8120" tIns="68607" rIns="108120" bIns="68607" numCol="1" spcCol="1270" anchor="ctr" anchorCtr="0">
          <a:noAutofit/>
        </a:bodyPr>
        <a:lstStyle/>
        <a:p>
          <a:pPr marL="0" lvl="0" indent="0" algn="ctr" defTabSz="622300">
            <a:lnSpc>
              <a:spcPct val="90000"/>
            </a:lnSpc>
            <a:spcBef>
              <a:spcPct val="0"/>
            </a:spcBef>
            <a:spcAft>
              <a:spcPct val="35000"/>
            </a:spcAft>
            <a:buNone/>
          </a:pPr>
          <a:r>
            <a:rPr lang="en-US" sz="1400" b="1" kern="1200"/>
            <a:t>AT&amp;T Fiber</a:t>
          </a:r>
          <a:r>
            <a:rPr lang="en-US" sz="1400" kern="1200"/>
            <a:t>:</a:t>
          </a:r>
        </a:p>
      </dsp:txBody>
      <dsp:txXfrm>
        <a:off x="0" y="2210288"/>
        <a:ext cx="2043216" cy="694561"/>
      </dsp:txXfrm>
    </dsp:sp>
    <dsp:sp modelId="{DF1F4F51-5BFA-4962-AEE2-72756F448224}">
      <dsp:nvSpPr>
        <dsp:cNvPr id="0" name=""/>
        <dsp:cNvSpPr/>
      </dsp:nvSpPr>
      <dsp:spPr>
        <a:xfrm>
          <a:off x="2043216" y="2946523"/>
          <a:ext cx="8172864" cy="69456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576" tIns="176419" rIns="158576" bIns="176419" numCol="1" spcCol="1270" anchor="ctr" anchorCtr="0">
          <a:noAutofit/>
        </a:bodyPr>
        <a:lstStyle/>
        <a:p>
          <a:pPr marL="0" lvl="0" indent="0" algn="l" defTabSz="488950">
            <a:lnSpc>
              <a:spcPct val="90000"/>
            </a:lnSpc>
            <a:spcBef>
              <a:spcPct val="0"/>
            </a:spcBef>
            <a:spcAft>
              <a:spcPct val="35000"/>
            </a:spcAft>
            <a:buNone/>
          </a:pPr>
          <a:r>
            <a:rPr lang="en-US" sz="1100" b="0" kern="1200" dirty="0" err="1"/>
            <a:t>Smartaira’s</a:t>
          </a:r>
          <a:r>
            <a:rPr lang="en-US" sz="1100" b="0" kern="1200" dirty="0"/>
            <a:t> strength lies in its ability to deliver personalized, innovative solutions, but it must address its scale and brand visibility to truly challenge industry leaders and expand its footprint in the MDU market.</a:t>
          </a:r>
        </a:p>
      </dsp:txBody>
      <dsp:txXfrm>
        <a:off x="2043216" y="2946523"/>
        <a:ext cx="8172864" cy="694561"/>
      </dsp:txXfrm>
    </dsp:sp>
    <dsp:sp modelId="{3BE881DE-6B88-4553-B839-955840B58695}">
      <dsp:nvSpPr>
        <dsp:cNvPr id="0" name=""/>
        <dsp:cNvSpPr/>
      </dsp:nvSpPr>
      <dsp:spPr>
        <a:xfrm>
          <a:off x="0" y="2946523"/>
          <a:ext cx="2043216" cy="69456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8120" tIns="68607" rIns="108120" bIns="68607" numCol="1" spcCol="1270" anchor="ctr" anchorCtr="0">
          <a:noAutofit/>
        </a:bodyPr>
        <a:lstStyle/>
        <a:p>
          <a:pPr marL="0" lvl="0" indent="0" algn="ctr" defTabSz="622300">
            <a:lnSpc>
              <a:spcPct val="90000"/>
            </a:lnSpc>
            <a:spcBef>
              <a:spcPct val="0"/>
            </a:spcBef>
            <a:spcAft>
              <a:spcPct val="35000"/>
            </a:spcAft>
            <a:buNone/>
          </a:pPr>
          <a:r>
            <a:rPr lang="es-CO" sz="1400" b="1" kern="1200" dirty="0" err="1"/>
            <a:t>Smartaira</a:t>
          </a:r>
          <a:r>
            <a:rPr lang="es-CO" sz="1400" b="1" kern="1200" dirty="0"/>
            <a:t>:</a:t>
          </a:r>
          <a:endParaRPr lang="en-US" sz="1400" b="1" kern="1200" dirty="0"/>
        </a:p>
      </dsp:txBody>
      <dsp:txXfrm>
        <a:off x="0" y="2946523"/>
        <a:ext cx="2043216" cy="6945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D4734-1162-4C03-938C-A335AAA979BF}">
      <dsp:nvSpPr>
        <dsp:cNvPr id="0" name=""/>
        <dsp:cNvSpPr/>
      </dsp:nvSpPr>
      <dsp:spPr>
        <a:xfrm>
          <a:off x="0" y="328531"/>
          <a:ext cx="10515600" cy="24979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b="1" kern="1200"/>
            <a:t>Local Expertise with Personalized Service: </a:t>
          </a:r>
          <a:r>
            <a:rPr lang="en-US" sz="1300" kern="1200"/>
            <a:t>Unlike national giants like AT&amp;T, we understand the nuanced needs of South Florida's MDU communities, delivering tailored solutions and faster response times.</a:t>
          </a:r>
        </a:p>
        <a:p>
          <a:pPr marL="114300" lvl="1" indent="-114300" algn="l" defTabSz="577850">
            <a:lnSpc>
              <a:spcPct val="90000"/>
            </a:lnSpc>
            <a:spcBef>
              <a:spcPct val="0"/>
            </a:spcBef>
            <a:spcAft>
              <a:spcPct val="15000"/>
            </a:spcAft>
            <a:buChar char="•"/>
          </a:pPr>
          <a:r>
            <a:rPr lang="en-US" sz="1300" b="1" kern="1200" dirty="0"/>
            <a:t>Flexible and Adaptable Solutions: </a:t>
          </a:r>
          <a:r>
            <a:rPr lang="en-US" sz="1300" kern="1200" dirty="0"/>
            <a:t>Celerity Fiber excels where competitors fall short, offering customized contract terms and service packages to meet the diverse needs of property managers and developers.</a:t>
          </a:r>
        </a:p>
        <a:p>
          <a:pPr marL="114300" lvl="1" indent="-114300" algn="l" defTabSz="577850">
            <a:lnSpc>
              <a:spcPct val="90000"/>
            </a:lnSpc>
            <a:spcBef>
              <a:spcPct val="0"/>
            </a:spcBef>
            <a:spcAft>
              <a:spcPct val="15000"/>
            </a:spcAft>
            <a:buChar char="•"/>
          </a:pPr>
          <a:r>
            <a:rPr lang="en-US" sz="1300" b="1" kern="1200" dirty="0"/>
            <a:t>Superior Customer Experience: </a:t>
          </a:r>
          <a:r>
            <a:rPr lang="en-US" sz="1300" kern="1200" dirty="0"/>
            <a:t>While competitors often falter in customer service, our 24/7 in-house support ensures seamless tenant satisfaction and builds long-term trust with clients. Complemented with our account managers team, ready to help each property directly.</a:t>
          </a:r>
        </a:p>
        <a:p>
          <a:pPr marL="114300" lvl="1" indent="-114300" algn="l" defTabSz="577850">
            <a:lnSpc>
              <a:spcPct val="90000"/>
            </a:lnSpc>
            <a:spcBef>
              <a:spcPct val="0"/>
            </a:spcBef>
            <a:spcAft>
              <a:spcPct val="15000"/>
            </a:spcAft>
            <a:buChar char="•"/>
          </a:pPr>
          <a:r>
            <a:rPr lang="en-US" sz="1300" b="1" kern="1200" dirty="0"/>
            <a:t>Strategic Scalability:</a:t>
          </a:r>
          <a:r>
            <a:rPr lang="en-US" sz="1300" kern="1200" dirty="0"/>
            <a:t> From mid-sized properties to luxury MDUs, Celerity Fiber’s solutions are designed to grow with the market, ensuring we remain relevant across all property sizes.</a:t>
          </a:r>
        </a:p>
        <a:p>
          <a:pPr marL="114300" lvl="1" indent="-114300" algn="l" defTabSz="577850">
            <a:lnSpc>
              <a:spcPct val="90000"/>
            </a:lnSpc>
            <a:spcBef>
              <a:spcPct val="0"/>
            </a:spcBef>
            <a:spcAft>
              <a:spcPct val="15000"/>
            </a:spcAft>
            <a:buChar char="•"/>
          </a:pPr>
          <a:r>
            <a:rPr lang="en-US" sz="1300" b="1" kern="1200"/>
            <a:t>Unmatched Value Proposition: </a:t>
          </a:r>
          <a:r>
            <a:rPr lang="en-US" sz="1300" kern="1200"/>
            <a:t>By pairing competitive pricing with premium features like managed WiFi and tenant-focused upgrades, we deliver high ROI to property owners while enhancing tenant retention.</a:t>
          </a:r>
        </a:p>
      </dsp:txBody>
      <dsp:txXfrm>
        <a:off x="0" y="328531"/>
        <a:ext cx="10515600" cy="2497950"/>
      </dsp:txXfrm>
    </dsp:sp>
    <dsp:sp modelId="{B2701D5C-A14E-4DA2-9F3E-80D5B814793D}">
      <dsp:nvSpPr>
        <dsp:cNvPr id="0" name=""/>
        <dsp:cNvSpPr/>
      </dsp:nvSpPr>
      <dsp:spPr>
        <a:xfrm>
          <a:off x="525780" y="136651"/>
          <a:ext cx="7360920"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a:t>Advantages:</a:t>
          </a:r>
          <a:endParaRPr lang="en-US" sz="1300" kern="1200"/>
        </a:p>
      </dsp:txBody>
      <dsp:txXfrm>
        <a:off x="544514" y="155385"/>
        <a:ext cx="7323452" cy="346292"/>
      </dsp:txXfrm>
    </dsp:sp>
    <dsp:sp modelId="{63988E8A-712C-4DF3-8348-5C147BE9057A}">
      <dsp:nvSpPr>
        <dsp:cNvPr id="0" name=""/>
        <dsp:cNvSpPr/>
      </dsp:nvSpPr>
      <dsp:spPr>
        <a:xfrm>
          <a:off x="0" y="3088561"/>
          <a:ext cx="10515600" cy="11261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b="1" kern="1200"/>
            <a:t>Brand Visibility</a:t>
          </a:r>
          <a:r>
            <a:rPr lang="en-US" sz="1300" kern="1200"/>
            <a:t>: Celerity Fiber needs stronger positioning against more established brands like Hotwire and Bluestream, which have higher recognition in South Florida.</a:t>
          </a:r>
        </a:p>
        <a:p>
          <a:pPr marL="114300" lvl="1" indent="-114300" algn="l" defTabSz="577850">
            <a:lnSpc>
              <a:spcPct val="90000"/>
            </a:lnSpc>
            <a:spcBef>
              <a:spcPct val="0"/>
            </a:spcBef>
            <a:spcAft>
              <a:spcPct val="15000"/>
            </a:spcAft>
            <a:buChar char="•"/>
          </a:pPr>
          <a:r>
            <a:rPr lang="en-US" sz="1300" b="1" kern="1200" dirty="0"/>
            <a:t>Expand Service Offerings</a:t>
          </a:r>
          <a:r>
            <a:rPr lang="en-US" sz="1300" kern="1200" dirty="0"/>
            <a:t>: Competitors offer more in bundled services and advanced home automation options, which could enhance Celerity’s appeal to tech-forward MDUs.</a:t>
          </a:r>
        </a:p>
      </dsp:txBody>
      <dsp:txXfrm>
        <a:off x="0" y="3088561"/>
        <a:ext cx="10515600" cy="1126125"/>
      </dsp:txXfrm>
    </dsp:sp>
    <dsp:sp modelId="{E2FDFA92-B686-45E4-AAEC-30B75B0F4B8E}">
      <dsp:nvSpPr>
        <dsp:cNvPr id="0" name=""/>
        <dsp:cNvSpPr/>
      </dsp:nvSpPr>
      <dsp:spPr>
        <a:xfrm>
          <a:off x="525780" y="2896681"/>
          <a:ext cx="7360920"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a:t>Areas for Improvement:</a:t>
          </a:r>
          <a:endParaRPr lang="en-US" sz="1300" kern="1200"/>
        </a:p>
      </dsp:txBody>
      <dsp:txXfrm>
        <a:off x="544514" y="2915415"/>
        <a:ext cx="7323452"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11F72-FC51-499E-6C7C-3AAF741791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798CF3-E6DE-1D36-9C6B-3A40CF61F0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52F2F8-0BA7-FAD6-5187-D1690AEB0846}"/>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5" name="Footer Placeholder 4">
            <a:extLst>
              <a:ext uri="{FF2B5EF4-FFF2-40B4-BE49-F238E27FC236}">
                <a16:creationId xmlns:a16="http://schemas.microsoft.com/office/drawing/2014/main" id="{07310D21-C6AA-24BD-2325-52C72597F7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C79502-1301-D1D2-E872-0BB85F02B988}"/>
              </a:ext>
            </a:extLst>
          </p:cNvPr>
          <p:cNvSpPr>
            <a:spLocks noGrp="1"/>
          </p:cNvSpPr>
          <p:nvPr>
            <p:ph type="sldNum" sz="quarter" idx="12"/>
          </p:nvPr>
        </p:nvSpPr>
        <p:spPr/>
        <p:txBody>
          <a:bodyPr/>
          <a:lstStyle/>
          <a:p>
            <a:fld id="{2A53FC4E-71DE-4C86-B31B-1D3BC4CFC775}" type="slidenum">
              <a:rPr lang="en-US" smtClean="0"/>
              <a:t>‹#›</a:t>
            </a:fld>
            <a:endParaRPr lang="en-US"/>
          </a:p>
        </p:txBody>
      </p:sp>
      <p:sp>
        <p:nvSpPr>
          <p:cNvPr id="8" name="Rectangle 7">
            <a:extLst>
              <a:ext uri="{FF2B5EF4-FFF2-40B4-BE49-F238E27FC236}">
                <a16:creationId xmlns:a16="http://schemas.microsoft.com/office/drawing/2014/main" id="{4671770C-D896-2343-8D70-80687F3387C6}"/>
              </a:ext>
            </a:extLst>
          </p:cNvPr>
          <p:cNvSpPr/>
          <p:nvPr/>
        </p:nvSpPr>
        <p:spPr>
          <a:xfrm>
            <a:off x="0" y="3602038"/>
            <a:ext cx="12192000" cy="3255962"/>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9" name="Picture 8">
            <a:extLst>
              <a:ext uri="{FF2B5EF4-FFF2-40B4-BE49-F238E27FC236}">
                <a16:creationId xmlns:a16="http://schemas.microsoft.com/office/drawing/2014/main" id="{69E1E3BB-8CE1-3711-2D1E-44073EA43823}"/>
              </a:ext>
            </a:extLst>
          </p:cNvPr>
          <p:cNvPicPr>
            <a:picLocks noChangeAspect="1"/>
          </p:cNvPicPr>
          <p:nvPr/>
        </p:nvPicPr>
        <p:blipFill>
          <a:blip r:embed="rId2"/>
          <a:stretch>
            <a:fillRect/>
          </a:stretch>
        </p:blipFill>
        <p:spPr>
          <a:xfrm>
            <a:off x="8971330" y="3826522"/>
            <a:ext cx="4274608" cy="2940802"/>
          </a:xfrm>
          <a:prstGeom prst="rect">
            <a:avLst/>
          </a:prstGeom>
        </p:spPr>
      </p:pic>
      <p:pic>
        <p:nvPicPr>
          <p:cNvPr id="7" name="Content Placeholder 4" descr="A white text on a black background&#10;&#10;Description automatically generated">
            <a:extLst>
              <a:ext uri="{FF2B5EF4-FFF2-40B4-BE49-F238E27FC236}">
                <a16:creationId xmlns:a16="http://schemas.microsoft.com/office/drawing/2014/main" id="{70CC8871-32FF-E281-90E4-BE8020793677}"/>
              </a:ext>
            </a:extLst>
          </p:cNvPr>
          <p:cNvPicPr>
            <a:picLocks noChangeAspect="1"/>
          </p:cNvPicPr>
          <p:nvPr/>
        </p:nvPicPr>
        <p:blipFill>
          <a:blip r:embed="rId3"/>
          <a:stretch>
            <a:fillRect/>
          </a:stretch>
        </p:blipFill>
        <p:spPr>
          <a:xfrm>
            <a:off x="95128" y="5735637"/>
            <a:ext cx="2857743" cy="1208285"/>
          </a:xfrm>
          <a:prstGeom prst="rect">
            <a:avLst/>
          </a:prstGeom>
        </p:spPr>
      </p:pic>
    </p:spTree>
    <p:extLst>
      <p:ext uri="{BB962C8B-B14F-4D97-AF65-F5344CB8AC3E}">
        <p14:creationId xmlns:p14="http://schemas.microsoft.com/office/powerpoint/2010/main" val="3616032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FC715-2DDE-76F2-9468-04CDDD207718}"/>
              </a:ext>
            </a:extLst>
          </p:cNvPr>
          <p:cNvSpPr>
            <a:spLocks noGrp="1"/>
          </p:cNvSpPr>
          <p:nvPr>
            <p:ph type="title"/>
          </p:nvPr>
        </p:nvSpPr>
        <p:spPr/>
        <p:txBody>
          <a:bodyPr/>
          <a:lstStyle>
            <a:lvl1pPr>
              <a:defRPr>
                <a:latin typeface="Helvetica"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1489A4A4-1A5C-DE68-F755-8B4945A7713F}"/>
              </a:ext>
            </a:extLst>
          </p:cNvPr>
          <p:cNvSpPr>
            <a:spLocks noGrp="1"/>
          </p:cNvSpPr>
          <p:nvPr>
            <p:ph idx="1"/>
          </p:nvPr>
        </p:nvSpPr>
        <p:spPr/>
        <p:txBody>
          <a:bodyPr/>
          <a:lstStyle>
            <a:lvl1pPr>
              <a:defRPr>
                <a:latin typeface="Helvetica" pitchFamily="2" charset="0"/>
              </a:defRPr>
            </a:lvl1pPr>
            <a:lvl2pPr>
              <a:defRPr>
                <a:latin typeface="Helvetica" pitchFamily="2" charset="0"/>
              </a:defRPr>
            </a:lvl2pPr>
            <a:lvl3pPr>
              <a:defRPr>
                <a:latin typeface="Helvetica" pitchFamily="2" charset="0"/>
              </a:defRPr>
            </a:lvl3pPr>
            <a:lvl4pPr>
              <a:defRPr>
                <a:latin typeface="Helvetica" pitchFamily="2" charset="0"/>
              </a:defRPr>
            </a:lvl4pPr>
            <a:lvl5pPr>
              <a:defRPr>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2DB9E8-9B93-0880-7A7F-5D33DC550B7B}"/>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5" name="Footer Placeholder 4">
            <a:extLst>
              <a:ext uri="{FF2B5EF4-FFF2-40B4-BE49-F238E27FC236}">
                <a16:creationId xmlns:a16="http://schemas.microsoft.com/office/drawing/2014/main" id="{43DF61E4-5F2B-F04E-9ADC-CBDA49951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2B4D0-74AD-A3F9-4875-A12278E6CDB4}"/>
              </a:ext>
            </a:extLst>
          </p:cNvPr>
          <p:cNvSpPr>
            <a:spLocks noGrp="1"/>
          </p:cNvSpPr>
          <p:nvPr>
            <p:ph type="sldNum" sz="quarter" idx="12"/>
          </p:nvPr>
        </p:nvSpPr>
        <p:spPr/>
        <p:txBody>
          <a:bodyPr/>
          <a:lstStyle/>
          <a:p>
            <a:fld id="{2A53FC4E-71DE-4C86-B31B-1D3BC4CFC775}" type="slidenum">
              <a:rPr lang="en-US" smtClean="0"/>
              <a:t>‹#›</a:t>
            </a:fld>
            <a:endParaRPr lang="en-US"/>
          </a:p>
        </p:txBody>
      </p:sp>
      <p:sp>
        <p:nvSpPr>
          <p:cNvPr id="8" name="Rectangle 7">
            <a:extLst>
              <a:ext uri="{FF2B5EF4-FFF2-40B4-BE49-F238E27FC236}">
                <a16:creationId xmlns:a16="http://schemas.microsoft.com/office/drawing/2014/main" id="{CA5DC700-A4CE-C73C-6A5A-6C61AEF5EBD6}"/>
              </a:ext>
            </a:extLst>
          </p:cNvPr>
          <p:cNvSpPr/>
          <p:nvPr/>
        </p:nvSpPr>
        <p:spPr>
          <a:xfrm>
            <a:off x="0" y="5913912"/>
            <a:ext cx="12192000" cy="944088"/>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9" name="Picture 8">
            <a:extLst>
              <a:ext uri="{FF2B5EF4-FFF2-40B4-BE49-F238E27FC236}">
                <a16:creationId xmlns:a16="http://schemas.microsoft.com/office/drawing/2014/main" id="{E301C8CB-0E71-7619-AF15-884A66C66AED}"/>
              </a:ext>
            </a:extLst>
          </p:cNvPr>
          <p:cNvPicPr>
            <a:picLocks noChangeAspect="1"/>
          </p:cNvPicPr>
          <p:nvPr/>
        </p:nvPicPr>
        <p:blipFill>
          <a:blip r:embed="rId2"/>
          <a:stretch>
            <a:fillRect/>
          </a:stretch>
        </p:blipFill>
        <p:spPr>
          <a:xfrm rot="7981385">
            <a:off x="10752878" y="-1104508"/>
            <a:ext cx="2105097" cy="2908861"/>
          </a:xfrm>
          <a:prstGeom prst="rect">
            <a:avLst/>
          </a:prstGeom>
        </p:spPr>
      </p:pic>
      <p:pic>
        <p:nvPicPr>
          <p:cNvPr id="7" name="Content Placeholder 4" descr="A white text on a black background&#10;&#10;Description automatically generated">
            <a:extLst>
              <a:ext uri="{FF2B5EF4-FFF2-40B4-BE49-F238E27FC236}">
                <a16:creationId xmlns:a16="http://schemas.microsoft.com/office/drawing/2014/main" id="{73DC2B92-CCD9-81E7-EA21-8B85CF733BCF}"/>
              </a:ext>
            </a:extLst>
          </p:cNvPr>
          <p:cNvPicPr>
            <a:picLocks noChangeAspect="1"/>
          </p:cNvPicPr>
          <p:nvPr/>
        </p:nvPicPr>
        <p:blipFill>
          <a:blip r:embed="rId3"/>
          <a:stretch>
            <a:fillRect/>
          </a:stretch>
        </p:blipFill>
        <p:spPr>
          <a:xfrm>
            <a:off x="37778" y="5827036"/>
            <a:ext cx="2857743" cy="1208285"/>
          </a:xfrm>
          <a:prstGeom prst="rect">
            <a:avLst/>
          </a:prstGeom>
        </p:spPr>
      </p:pic>
    </p:spTree>
    <p:extLst>
      <p:ext uri="{BB962C8B-B14F-4D97-AF65-F5344CB8AC3E}">
        <p14:creationId xmlns:p14="http://schemas.microsoft.com/office/powerpoint/2010/main" val="122013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D63C8-CAC9-387F-918E-DB7AD60C7E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34EF2A-2523-9C75-337E-09C35E8243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1F9E24-D293-C114-4B4E-F92ECBB4BD6B}"/>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5" name="Footer Placeholder 4">
            <a:extLst>
              <a:ext uri="{FF2B5EF4-FFF2-40B4-BE49-F238E27FC236}">
                <a16:creationId xmlns:a16="http://schemas.microsoft.com/office/drawing/2014/main" id="{D2A7F06C-7661-0393-A455-78E8A6C90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E89D10-5850-EACF-E927-1A80C79E00F8}"/>
              </a:ext>
            </a:extLst>
          </p:cNvPr>
          <p:cNvSpPr>
            <a:spLocks noGrp="1"/>
          </p:cNvSpPr>
          <p:nvPr>
            <p:ph type="sldNum" sz="quarter" idx="12"/>
          </p:nvPr>
        </p:nvSpPr>
        <p:spPr/>
        <p:txBody>
          <a:bodyPr/>
          <a:lstStyle/>
          <a:p>
            <a:fld id="{2A53FC4E-71DE-4C86-B31B-1D3BC4CFC775}" type="slidenum">
              <a:rPr lang="en-US" smtClean="0"/>
              <a:t>‹#›</a:t>
            </a:fld>
            <a:endParaRPr lang="en-US"/>
          </a:p>
        </p:txBody>
      </p:sp>
    </p:spTree>
    <p:extLst>
      <p:ext uri="{BB962C8B-B14F-4D97-AF65-F5344CB8AC3E}">
        <p14:creationId xmlns:p14="http://schemas.microsoft.com/office/powerpoint/2010/main" val="242305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87EDC-71C5-20C3-4D9B-838449C56E57}"/>
              </a:ext>
            </a:extLst>
          </p:cNvPr>
          <p:cNvSpPr>
            <a:spLocks noGrp="1"/>
          </p:cNvSpPr>
          <p:nvPr>
            <p:ph type="title"/>
          </p:nvPr>
        </p:nvSpPr>
        <p:spPr>
          <a:xfrm>
            <a:off x="944088" y="365125"/>
            <a:ext cx="10409711"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E09F4D1-F392-3EC6-C210-DAB4CA542007}"/>
              </a:ext>
            </a:extLst>
          </p:cNvPr>
          <p:cNvSpPr>
            <a:spLocks noGrp="1"/>
          </p:cNvSpPr>
          <p:nvPr>
            <p:ph sz="half" idx="1"/>
          </p:nvPr>
        </p:nvSpPr>
        <p:spPr>
          <a:xfrm>
            <a:off x="944088" y="1825625"/>
            <a:ext cx="507571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1F65A4-E855-C968-1C1C-F2878181ED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B077BF-868F-4778-6A30-BC56114C17E5}"/>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6" name="Footer Placeholder 5">
            <a:extLst>
              <a:ext uri="{FF2B5EF4-FFF2-40B4-BE49-F238E27FC236}">
                <a16:creationId xmlns:a16="http://schemas.microsoft.com/office/drawing/2014/main" id="{8265A5F5-AF86-DCA9-A23F-7D2D97B395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080C1B-E289-444D-FA46-E1C4E2D12ED0}"/>
              </a:ext>
            </a:extLst>
          </p:cNvPr>
          <p:cNvSpPr>
            <a:spLocks noGrp="1"/>
          </p:cNvSpPr>
          <p:nvPr>
            <p:ph type="sldNum" sz="quarter" idx="12"/>
          </p:nvPr>
        </p:nvSpPr>
        <p:spPr/>
        <p:txBody>
          <a:bodyPr/>
          <a:lstStyle/>
          <a:p>
            <a:fld id="{2A53FC4E-71DE-4C86-B31B-1D3BC4CFC775}" type="slidenum">
              <a:rPr lang="en-US" smtClean="0"/>
              <a:t>‹#›</a:t>
            </a:fld>
            <a:endParaRPr lang="en-US"/>
          </a:p>
        </p:txBody>
      </p:sp>
      <p:sp>
        <p:nvSpPr>
          <p:cNvPr id="8" name="Rectangle 7">
            <a:extLst>
              <a:ext uri="{FF2B5EF4-FFF2-40B4-BE49-F238E27FC236}">
                <a16:creationId xmlns:a16="http://schemas.microsoft.com/office/drawing/2014/main" id="{52F63A55-B31F-3B68-C0ED-E636397D0300}"/>
              </a:ext>
            </a:extLst>
          </p:cNvPr>
          <p:cNvSpPr/>
          <p:nvPr/>
        </p:nvSpPr>
        <p:spPr>
          <a:xfrm rot="16200000">
            <a:off x="-2956956" y="2956956"/>
            <a:ext cx="6858000" cy="944088"/>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9" name="Picture 8">
            <a:extLst>
              <a:ext uri="{FF2B5EF4-FFF2-40B4-BE49-F238E27FC236}">
                <a16:creationId xmlns:a16="http://schemas.microsoft.com/office/drawing/2014/main" id="{86A2F76D-A851-A8D1-CCF4-FF72836D3A34}"/>
              </a:ext>
            </a:extLst>
          </p:cNvPr>
          <p:cNvPicPr>
            <a:picLocks noChangeAspect="1"/>
          </p:cNvPicPr>
          <p:nvPr/>
        </p:nvPicPr>
        <p:blipFill>
          <a:blip r:embed="rId2"/>
          <a:stretch>
            <a:fillRect/>
          </a:stretch>
        </p:blipFill>
        <p:spPr>
          <a:xfrm rot="7981385">
            <a:off x="10752878" y="-1104508"/>
            <a:ext cx="2105097" cy="2908861"/>
          </a:xfrm>
          <a:prstGeom prst="rect">
            <a:avLst/>
          </a:prstGeom>
        </p:spPr>
      </p:pic>
      <p:pic>
        <p:nvPicPr>
          <p:cNvPr id="10" name="Content Placeholder 5" descr="A blue text on a black background&#10;&#10;Description automatically generated">
            <a:extLst>
              <a:ext uri="{FF2B5EF4-FFF2-40B4-BE49-F238E27FC236}">
                <a16:creationId xmlns:a16="http://schemas.microsoft.com/office/drawing/2014/main" id="{F4CB099D-7EC8-22DB-56D3-3AB5BA35438F}"/>
              </a:ext>
            </a:extLst>
          </p:cNvPr>
          <p:cNvPicPr>
            <a:picLocks noChangeAspect="1"/>
          </p:cNvPicPr>
          <p:nvPr/>
        </p:nvPicPr>
        <p:blipFill>
          <a:blip r:embed="rId3"/>
          <a:stretch>
            <a:fillRect/>
          </a:stretch>
        </p:blipFill>
        <p:spPr>
          <a:xfrm>
            <a:off x="9851923" y="5921594"/>
            <a:ext cx="2214716" cy="936406"/>
          </a:xfrm>
          <a:prstGeom prst="rect">
            <a:avLst/>
          </a:prstGeom>
        </p:spPr>
      </p:pic>
    </p:spTree>
    <p:extLst>
      <p:ext uri="{BB962C8B-B14F-4D97-AF65-F5344CB8AC3E}">
        <p14:creationId xmlns:p14="http://schemas.microsoft.com/office/powerpoint/2010/main" val="102277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25999-7E40-C451-CD98-AC5A2676B4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1B182-00AF-E183-DCB1-2D0BA3D633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DD8075-4752-F986-A005-44E3E5031B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4C1DE4-B295-00FE-BA85-FDD7D946D0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69FD1D-A837-9759-2B83-D0FDBDB899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241C63-667B-0DB4-FF5D-A11974E59589}"/>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8" name="Footer Placeholder 7">
            <a:extLst>
              <a:ext uri="{FF2B5EF4-FFF2-40B4-BE49-F238E27FC236}">
                <a16:creationId xmlns:a16="http://schemas.microsoft.com/office/drawing/2014/main" id="{B8569ECD-BF20-71C9-D608-CBDE69B637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78532F-F619-4534-3152-3C709EB0A9EB}"/>
              </a:ext>
            </a:extLst>
          </p:cNvPr>
          <p:cNvSpPr>
            <a:spLocks noGrp="1"/>
          </p:cNvSpPr>
          <p:nvPr>
            <p:ph type="sldNum" sz="quarter" idx="12"/>
          </p:nvPr>
        </p:nvSpPr>
        <p:spPr/>
        <p:txBody>
          <a:bodyPr/>
          <a:lstStyle/>
          <a:p>
            <a:fld id="{2A53FC4E-71DE-4C86-B31B-1D3BC4CFC775}" type="slidenum">
              <a:rPr lang="en-US" smtClean="0"/>
              <a:t>‹#›</a:t>
            </a:fld>
            <a:endParaRPr lang="en-US"/>
          </a:p>
        </p:txBody>
      </p:sp>
    </p:spTree>
    <p:extLst>
      <p:ext uri="{BB962C8B-B14F-4D97-AF65-F5344CB8AC3E}">
        <p14:creationId xmlns:p14="http://schemas.microsoft.com/office/powerpoint/2010/main" val="1283007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E1E6E-D150-8278-866C-58595BC62B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29F437-7540-3A91-2387-3CC3B5F6675C}"/>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4" name="Footer Placeholder 3">
            <a:extLst>
              <a:ext uri="{FF2B5EF4-FFF2-40B4-BE49-F238E27FC236}">
                <a16:creationId xmlns:a16="http://schemas.microsoft.com/office/drawing/2014/main" id="{7F05C37B-F0F4-CA62-C719-D553FB341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9060E6-4E78-28D6-BD7F-ACF5484A1797}"/>
              </a:ext>
            </a:extLst>
          </p:cNvPr>
          <p:cNvSpPr>
            <a:spLocks noGrp="1"/>
          </p:cNvSpPr>
          <p:nvPr>
            <p:ph type="sldNum" sz="quarter" idx="12"/>
          </p:nvPr>
        </p:nvSpPr>
        <p:spPr/>
        <p:txBody>
          <a:bodyPr/>
          <a:lstStyle/>
          <a:p>
            <a:fld id="{2A53FC4E-71DE-4C86-B31B-1D3BC4CFC775}" type="slidenum">
              <a:rPr lang="en-US" smtClean="0"/>
              <a:t>‹#›</a:t>
            </a:fld>
            <a:endParaRPr lang="en-US"/>
          </a:p>
        </p:txBody>
      </p:sp>
      <p:sp>
        <p:nvSpPr>
          <p:cNvPr id="6" name="Rectangle 5">
            <a:extLst>
              <a:ext uri="{FF2B5EF4-FFF2-40B4-BE49-F238E27FC236}">
                <a16:creationId xmlns:a16="http://schemas.microsoft.com/office/drawing/2014/main" id="{B73F43A9-8171-660F-6255-A8ABF12071EA}"/>
              </a:ext>
            </a:extLst>
          </p:cNvPr>
          <p:cNvSpPr/>
          <p:nvPr/>
        </p:nvSpPr>
        <p:spPr>
          <a:xfrm rot="16200000">
            <a:off x="8290956" y="2956956"/>
            <a:ext cx="6858000" cy="944088"/>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7" name="Picture 6">
            <a:extLst>
              <a:ext uri="{FF2B5EF4-FFF2-40B4-BE49-F238E27FC236}">
                <a16:creationId xmlns:a16="http://schemas.microsoft.com/office/drawing/2014/main" id="{3D2E1259-9740-4D9B-EBE4-39080B3D46F0}"/>
              </a:ext>
            </a:extLst>
          </p:cNvPr>
          <p:cNvPicPr>
            <a:picLocks noChangeAspect="1"/>
          </p:cNvPicPr>
          <p:nvPr/>
        </p:nvPicPr>
        <p:blipFill>
          <a:blip r:embed="rId2"/>
          <a:stretch>
            <a:fillRect/>
          </a:stretch>
        </p:blipFill>
        <p:spPr>
          <a:xfrm rot="12600000">
            <a:off x="10301252" y="4901920"/>
            <a:ext cx="2105097" cy="2908861"/>
          </a:xfrm>
          <a:prstGeom prst="rect">
            <a:avLst/>
          </a:prstGeom>
        </p:spPr>
      </p:pic>
      <p:pic>
        <p:nvPicPr>
          <p:cNvPr id="8" name="Content Placeholder 5" descr="A blue text on a black background&#10;&#10;Description automatically generated">
            <a:extLst>
              <a:ext uri="{FF2B5EF4-FFF2-40B4-BE49-F238E27FC236}">
                <a16:creationId xmlns:a16="http://schemas.microsoft.com/office/drawing/2014/main" id="{5C42B184-A5C9-48A3-9269-41C8CCAE0044}"/>
              </a:ext>
            </a:extLst>
          </p:cNvPr>
          <p:cNvPicPr>
            <a:picLocks noChangeAspect="1"/>
          </p:cNvPicPr>
          <p:nvPr/>
        </p:nvPicPr>
        <p:blipFill>
          <a:blip r:embed="rId3"/>
          <a:stretch>
            <a:fillRect/>
          </a:stretch>
        </p:blipFill>
        <p:spPr>
          <a:xfrm>
            <a:off x="164301" y="6024672"/>
            <a:ext cx="2214716" cy="936406"/>
          </a:xfrm>
          <a:prstGeom prst="rect">
            <a:avLst/>
          </a:prstGeom>
        </p:spPr>
      </p:pic>
    </p:spTree>
    <p:extLst>
      <p:ext uri="{BB962C8B-B14F-4D97-AF65-F5344CB8AC3E}">
        <p14:creationId xmlns:p14="http://schemas.microsoft.com/office/powerpoint/2010/main" val="2056355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D05F34-D86E-4FE4-2BF6-4861B20502F1}"/>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3" name="Footer Placeholder 2">
            <a:extLst>
              <a:ext uri="{FF2B5EF4-FFF2-40B4-BE49-F238E27FC236}">
                <a16:creationId xmlns:a16="http://schemas.microsoft.com/office/drawing/2014/main" id="{B399E454-70A9-B899-B4BD-AC393A9986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6DF4F6-BB3C-45AE-298E-F91DF7B57118}"/>
              </a:ext>
            </a:extLst>
          </p:cNvPr>
          <p:cNvSpPr>
            <a:spLocks noGrp="1"/>
          </p:cNvSpPr>
          <p:nvPr>
            <p:ph type="sldNum" sz="quarter" idx="12"/>
          </p:nvPr>
        </p:nvSpPr>
        <p:spPr/>
        <p:txBody>
          <a:bodyPr/>
          <a:lstStyle/>
          <a:p>
            <a:fld id="{2A53FC4E-71DE-4C86-B31B-1D3BC4CFC775}" type="slidenum">
              <a:rPr lang="en-US" smtClean="0"/>
              <a:t>‹#›</a:t>
            </a:fld>
            <a:endParaRPr lang="en-US"/>
          </a:p>
        </p:txBody>
      </p:sp>
      <p:sp>
        <p:nvSpPr>
          <p:cNvPr id="5" name="Rectangle 4">
            <a:extLst>
              <a:ext uri="{FF2B5EF4-FFF2-40B4-BE49-F238E27FC236}">
                <a16:creationId xmlns:a16="http://schemas.microsoft.com/office/drawing/2014/main" id="{C44EE41C-F951-A344-8E67-1626FF35B9AC}"/>
              </a:ext>
            </a:extLst>
          </p:cNvPr>
          <p:cNvSpPr/>
          <p:nvPr/>
        </p:nvSpPr>
        <p:spPr>
          <a:xfrm rot="16200000">
            <a:off x="-1959078" y="1959077"/>
            <a:ext cx="6858000" cy="2939845"/>
          </a:xfrm>
          <a:prstGeom prst="rect">
            <a:avLst/>
          </a:prstGeom>
          <a:gradFill>
            <a:gsLst>
              <a:gs pos="0">
                <a:srgbClr val="0085AD"/>
              </a:gs>
              <a:gs pos="95000">
                <a:srgbClr val="041C2C"/>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6" name="Picture 5">
            <a:extLst>
              <a:ext uri="{FF2B5EF4-FFF2-40B4-BE49-F238E27FC236}">
                <a16:creationId xmlns:a16="http://schemas.microsoft.com/office/drawing/2014/main" id="{9CBE2CF1-A4FC-8937-A17F-43FDC9959419}"/>
              </a:ext>
            </a:extLst>
          </p:cNvPr>
          <p:cNvPicPr>
            <a:picLocks noChangeAspect="1"/>
          </p:cNvPicPr>
          <p:nvPr/>
        </p:nvPicPr>
        <p:blipFill>
          <a:blip r:embed="rId2">
            <a:alphaModFix amt="34000"/>
          </a:blip>
          <a:stretch>
            <a:fillRect/>
          </a:stretch>
        </p:blipFill>
        <p:spPr>
          <a:xfrm>
            <a:off x="0" y="0"/>
            <a:ext cx="1178441" cy="2202426"/>
          </a:xfrm>
          <a:prstGeom prst="rect">
            <a:avLst/>
          </a:prstGeom>
          <a:effectLst/>
        </p:spPr>
      </p:pic>
      <p:pic>
        <p:nvPicPr>
          <p:cNvPr id="7" name="Content Placeholder 4" descr="A white text on a black background&#10;&#10;Description automatically generated">
            <a:extLst>
              <a:ext uri="{FF2B5EF4-FFF2-40B4-BE49-F238E27FC236}">
                <a16:creationId xmlns:a16="http://schemas.microsoft.com/office/drawing/2014/main" id="{136B04A1-91FF-FA0A-D18D-8FAD35EA6AEA}"/>
              </a:ext>
            </a:extLst>
          </p:cNvPr>
          <p:cNvPicPr>
            <a:picLocks noChangeAspect="1"/>
          </p:cNvPicPr>
          <p:nvPr/>
        </p:nvPicPr>
        <p:blipFill>
          <a:blip r:embed="rId3"/>
          <a:stretch>
            <a:fillRect/>
          </a:stretch>
        </p:blipFill>
        <p:spPr>
          <a:xfrm>
            <a:off x="37778" y="5827036"/>
            <a:ext cx="2857743" cy="1208285"/>
          </a:xfrm>
          <a:prstGeom prst="rect">
            <a:avLst/>
          </a:prstGeom>
        </p:spPr>
      </p:pic>
    </p:spTree>
    <p:extLst>
      <p:ext uri="{BB962C8B-B14F-4D97-AF65-F5344CB8AC3E}">
        <p14:creationId xmlns:p14="http://schemas.microsoft.com/office/powerpoint/2010/main" val="1239515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87D432-5D44-BC33-447C-8CD41AED866B}"/>
              </a:ext>
            </a:extLst>
          </p:cNvPr>
          <p:cNvSpPr/>
          <p:nvPr/>
        </p:nvSpPr>
        <p:spPr>
          <a:xfrm>
            <a:off x="0" y="1"/>
            <a:ext cx="12192000" cy="2876204"/>
          </a:xfrm>
          <a:prstGeom prst="rect">
            <a:avLst/>
          </a:prstGeom>
          <a:solidFill>
            <a:srgbClr val="0085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2" name="Date Placeholder 1">
            <a:extLst>
              <a:ext uri="{FF2B5EF4-FFF2-40B4-BE49-F238E27FC236}">
                <a16:creationId xmlns:a16="http://schemas.microsoft.com/office/drawing/2014/main" id="{DCD05F34-D86E-4FE4-2BF6-4861B20502F1}"/>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3" name="Footer Placeholder 2">
            <a:extLst>
              <a:ext uri="{FF2B5EF4-FFF2-40B4-BE49-F238E27FC236}">
                <a16:creationId xmlns:a16="http://schemas.microsoft.com/office/drawing/2014/main" id="{B399E454-70A9-B899-B4BD-AC393A9986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6DF4F6-BB3C-45AE-298E-F91DF7B57118}"/>
              </a:ext>
            </a:extLst>
          </p:cNvPr>
          <p:cNvSpPr>
            <a:spLocks noGrp="1"/>
          </p:cNvSpPr>
          <p:nvPr>
            <p:ph type="sldNum" sz="quarter" idx="12"/>
          </p:nvPr>
        </p:nvSpPr>
        <p:spPr/>
        <p:txBody>
          <a:bodyPr/>
          <a:lstStyle/>
          <a:p>
            <a:fld id="{2A53FC4E-71DE-4C86-B31B-1D3BC4CFC775}" type="slidenum">
              <a:rPr lang="en-US" smtClean="0"/>
              <a:t>‹#›</a:t>
            </a:fld>
            <a:endParaRPr lang="en-US"/>
          </a:p>
        </p:txBody>
      </p:sp>
      <p:pic>
        <p:nvPicPr>
          <p:cNvPr id="6" name="Picture 5">
            <a:extLst>
              <a:ext uri="{FF2B5EF4-FFF2-40B4-BE49-F238E27FC236}">
                <a16:creationId xmlns:a16="http://schemas.microsoft.com/office/drawing/2014/main" id="{9CBE2CF1-A4FC-8937-A17F-43FDC9959419}"/>
              </a:ext>
            </a:extLst>
          </p:cNvPr>
          <p:cNvPicPr>
            <a:picLocks noChangeAspect="1"/>
          </p:cNvPicPr>
          <p:nvPr/>
        </p:nvPicPr>
        <p:blipFill>
          <a:blip r:embed="rId2">
            <a:alphaModFix amt="34000"/>
          </a:blip>
          <a:stretch>
            <a:fillRect/>
          </a:stretch>
        </p:blipFill>
        <p:spPr>
          <a:xfrm>
            <a:off x="0" y="0"/>
            <a:ext cx="1178441" cy="2202426"/>
          </a:xfrm>
          <a:prstGeom prst="rect">
            <a:avLst/>
          </a:prstGeom>
          <a:effectLst/>
        </p:spPr>
      </p:pic>
    </p:spTree>
    <p:extLst>
      <p:ext uri="{BB962C8B-B14F-4D97-AF65-F5344CB8AC3E}">
        <p14:creationId xmlns:p14="http://schemas.microsoft.com/office/powerpoint/2010/main" val="2581679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87D432-5D44-BC33-447C-8CD41AED866B}"/>
              </a:ext>
            </a:extLst>
          </p:cNvPr>
          <p:cNvSpPr/>
          <p:nvPr/>
        </p:nvSpPr>
        <p:spPr>
          <a:xfrm>
            <a:off x="0" y="0"/>
            <a:ext cx="12192000" cy="6858000"/>
          </a:xfrm>
          <a:prstGeom prst="rect">
            <a:avLst/>
          </a:prstGeom>
          <a:solidFill>
            <a:srgbClr val="0085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2" name="Date Placeholder 1">
            <a:extLst>
              <a:ext uri="{FF2B5EF4-FFF2-40B4-BE49-F238E27FC236}">
                <a16:creationId xmlns:a16="http://schemas.microsoft.com/office/drawing/2014/main" id="{DCD05F34-D86E-4FE4-2BF6-4861B20502F1}"/>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3" name="Footer Placeholder 2">
            <a:extLst>
              <a:ext uri="{FF2B5EF4-FFF2-40B4-BE49-F238E27FC236}">
                <a16:creationId xmlns:a16="http://schemas.microsoft.com/office/drawing/2014/main" id="{B399E454-70A9-B899-B4BD-AC393A9986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6DF4F6-BB3C-45AE-298E-F91DF7B57118}"/>
              </a:ext>
            </a:extLst>
          </p:cNvPr>
          <p:cNvSpPr>
            <a:spLocks noGrp="1"/>
          </p:cNvSpPr>
          <p:nvPr>
            <p:ph type="sldNum" sz="quarter" idx="12"/>
          </p:nvPr>
        </p:nvSpPr>
        <p:spPr/>
        <p:txBody>
          <a:bodyPr/>
          <a:lstStyle/>
          <a:p>
            <a:fld id="{2A53FC4E-71DE-4C86-B31B-1D3BC4CFC775}" type="slidenum">
              <a:rPr lang="en-US" smtClean="0"/>
              <a:t>‹#›</a:t>
            </a:fld>
            <a:endParaRPr lang="en-US"/>
          </a:p>
        </p:txBody>
      </p:sp>
      <p:pic>
        <p:nvPicPr>
          <p:cNvPr id="6" name="Picture 5">
            <a:extLst>
              <a:ext uri="{FF2B5EF4-FFF2-40B4-BE49-F238E27FC236}">
                <a16:creationId xmlns:a16="http://schemas.microsoft.com/office/drawing/2014/main" id="{9CBE2CF1-A4FC-8937-A17F-43FDC9959419}"/>
              </a:ext>
            </a:extLst>
          </p:cNvPr>
          <p:cNvPicPr>
            <a:picLocks noChangeAspect="1"/>
          </p:cNvPicPr>
          <p:nvPr/>
        </p:nvPicPr>
        <p:blipFill>
          <a:blip r:embed="rId2">
            <a:alphaModFix amt="34000"/>
          </a:blip>
          <a:stretch>
            <a:fillRect/>
          </a:stretch>
        </p:blipFill>
        <p:spPr>
          <a:xfrm>
            <a:off x="0" y="0"/>
            <a:ext cx="1178441" cy="2202426"/>
          </a:xfrm>
          <a:prstGeom prst="rect">
            <a:avLst/>
          </a:prstGeom>
          <a:effectLst/>
        </p:spPr>
      </p:pic>
      <p:pic>
        <p:nvPicPr>
          <p:cNvPr id="5" name="Picture 4">
            <a:extLst>
              <a:ext uri="{FF2B5EF4-FFF2-40B4-BE49-F238E27FC236}">
                <a16:creationId xmlns:a16="http://schemas.microsoft.com/office/drawing/2014/main" id="{B6A0A517-FADD-D216-D109-03BA6AF30D44}"/>
              </a:ext>
            </a:extLst>
          </p:cNvPr>
          <p:cNvPicPr>
            <a:picLocks noChangeAspect="1"/>
          </p:cNvPicPr>
          <p:nvPr/>
        </p:nvPicPr>
        <p:blipFill>
          <a:blip r:embed="rId3">
            <a:alphaModFix amt="27000"/>
          </a:blip>
          <a:stretch>
            <a:fillRect/>
          </a:stretch>
        </p:blipFill>
        <p:spPr>
          <a:xfrm>
            <a:off x="9299264" y="4098175"/>
            <a:ext cx="3991402" cy="2996170"/>
          </a:xfrm>
          <a:prstGeom prst="rect">
            <a:avLst/>
          </a:prstGeom>
        </p:spPr>
      </p:pic>
    </p:spTree>
    <p:extLst>
      <p:ext uri="{BB962C8B-B14F-4D97-AF65-F5344CB8AC3E}">
        <p14:creationId xmlns:p14="http://schemas.microsoft.com/office/powerpoint/2010/main" val="349537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15986-7D1A-43C5-0215-010ABA5A06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966583-D91F-1633-5A7B-3B42DBCA4F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B471A4-2B50-C4E3-CB20-9A52F64B61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006A55-1F50-95C1-7928-F6FDB70816E1}"/>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6" name="Footer Placeholder 5">
            <a:extLst>
              <a:ext uri="{FF2B5EF4-FFF2-40B4-BE49-F238E27FC236}">
                <a16:creationId xmlns:a16="http://schemas.microsoft.com/office/drawing/2014/main" id="{EE549BA9-3B56-74DE-3DBE-94B3555819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7B23CD-DDB5-BDC6-8168-D9843A47F99A}"/>
              </a:ext>
            </a:extLst>
          </p:cNvPr>
          <p:cNvSpPr>
            <a:spLocks noGrp="1"/>
          </p:cNvSpPr>
          <p:nvPr>
            <p:ph type="sldNum" sz="quarter" idx="12"/>
          </p:nvPr>
        </p:nvSpPr>
        <p:spPr/>
        <p:txBody>
          <a:bodyPr/>
          <a:lstStyle/>
          <a:p>
            <a:fld id="{2A53FC4E-71DE-4C86-B31B-1D3BC4CFC775}" type="slidenum">
              <a:rPr lang="en-US" smtClean="0"/>
              <a:t>‹#›</a:t>
            </a:fld>
            <a:endParaRPr lang="en-US"/>
          </a:p>
        </p:txBody>
      </p:sp>
    </p:spTree>
    <p:extLst>
      <p:ext uri="{BB962C8B-B14F-4D97-AF65-F5344CB8AC3E}">
        <p14:creationId xmlns:p14="http://schemas.microsoft.com/office/powerpoint/2010/main" val="369258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C326F-2067-1CC1-73B9-0122D80DE6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9FA86D-6715-5EB2-C9CC-61E65027B9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1532A8-6970-BBAE-21C0-76B2983AFE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9729D5-FAF7-64E3-FAD5-A382D456EFD6}"/>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6" name="Footer Placeholder 5">
            <a:extLst>
              <a:ext uri="{FF2B5EF4-FFF2-40B4-BE49-F238E27FC236}">
                <a16:creationId xmlns:a16="http://schemas.microsoft.com/office/drawing/2014/main" id="{8751D3FD-57DE-2B3A-1DEF-471C19A9E5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B5C286-2082-3882-7974-7072C6FEED18}"/>
              </a:ext>
            </a:extLst>
          </p:cNvPr>
          <p:cNvSpPr>
            <a:spLocks noGrp="1"/>
          </p:cNvSpPr>
          <p:nvPr>
            <p:ph type="sldNum" sz="quarter" idx="12"/>
          </p:nvPr>
        </p:nvSpPr>
        <p:spPr/>
        <p:txBody>
          <a:bodyPr/>
          <a:lstStyle/>
          <a:p>
            <a:fld id="{2A53FC4E-71DE-4C86-B31B-1D3BC4CFC775}" type="slidenum">
              <a:rPr lang="en-US" smtClean="0"/>
              <a:t>‹#›</a:t>
            </a:fld>
            <a:endParaRPr lang="en-US"/>
          </a:p>
        </p:txBody>
      </p:sp>
    </p:spTree>
    <p:extLst>
      <p:ext uri="{BB962C8B-B14F-4D97-AF65-F5344CB8AC3E}">
        <p14:creationId xmlns:p14="http://schemas.microsoft.com/office/powerpoint/2010/main" val="3760291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10B72-CF25-B9EB-47D0-892182E9B8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B2E499-B771-E013-7398-D4D233467E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06E7C2-6DB2-68E4-870C-8DEBB47EBF6B}"/>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5" name="Footer Placeholder 4">
            <a:extLst>
              <a:ext uri="{FF2B5EF4-FFF2-40B4-BE49-F238E27FC236}">
                <a16:creationId xmlns:a16="http://schemas.microsoft.com/office/drawing/2014/main" id="{69506A7B-4F13-AD02-5BB2-E856218B7E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7A36A2-8179-8B44-96A0-68180BE010D0}"/>
              </a:ext>
            </a:extLst>
          </p:cNvPr>
          <p:cNvSpPr>
            <a:spLocks noGrp="1"/>
          </p:cNvSpPr>
          <p:nvPr>
            <p:ph type="sldNum" sz="quarter" idx="12"/>
          </p:nvPr>
        </p:nvSpPr>
        <p:spPr/>
        <p:txBody>
          <a:bodyPr/>
          <a:lstStyle/>
          <a:p>
            <a:fld id="{2A53FC4E-71DE-4C86-B31B-1D3BC4CFC775}" type="slidenum">
              <a:rPr lang="en-US" smtClean="0"/>
              <a:t>‹#›</a:t>
            </a:fld>
            <a:endParaRPr lang="en-US"/>
          </a:p>
        </p:txBody>
      </p:sp>
    </p:spTree>
    <p:extLst>
      <p:ext uri="{BB962C8B-B14F-4D97-AF65-F5344CB8AC3E}">
        <p14:creationId xmlns:p14="http://schemas.microsoft.com/office/powerpoint/2010/main" val="4182647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A5A487-05D6-B873-FCB8-CC9A863299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C9C3DB-2E20-C1D6-F172-3D53D33AEF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D0290-A047-6DC8-DFEC-F90337535C5F}"/>
              </a:ext>
            </a:extLst>
          </p:cNvPr>
          <p:cNvSpPr>
            <a:spLocks noGrp="1"/>
          </p:cNvSpPr>
          <p:nvPr>
            <p:ph type="dt" sz="half" idx="10"/>
          </p:nvPr>
        </p:nvSpPr>
        <p:spPr/>
        <p:txBody>
          <a:bodyPr/>
          <a:lstStyle/>
          <a:p>
            <a:fld id="{D5CDFC4D-B52B-44BA-8CB5-8E21B2C18131}" type="datetimeFigureOut">
              <a:rPr lang="en-US" smtClean="0"/>
              <a:t>5/2/2025</a:t>
            </a:fld>
            <a:endParaRPr lang="en-US"/>
          </a:p>
        </p:txBody>
      </p:sp>
      <p:sp>
        <p:nvSpPr>
          <p:cNvPr id="5" name="Footer Placeholder 4">
            <a:extLst>
              <a:ext uri="{FF2B5EF4-FFF2-40B4-BE49-F238E27FC236}">
                <a16:creationId xmlns:a16="http://schemas.microsoft.com/office/drawing/2014/main" id="{E60117A8-3F24-6378-ED65-C90F62833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A0FD57-9896-B30E-DADF-7B73EFE13969}"/>
              </a:ext>
            </a:extLst>
          </p:cNvPr>
          <p:cNvSpPr>
            <a:spLocks noGrp="1"/>
          </p:cNvSpPr>
          <p:nvPr>
            <p:ph type="sldNum" sz="quarter" idx="12"/>
          </p:nvPr>
        </p:nvSpPr>
        <p:spPr/>
        <p:txBody>
          <a:bodyPr/>
          <a:lstStyle/>
          <a:p>
            <a:fld id="{2A53FC4E-71DE-4C86-B31B-1D3BC4CFC775}" type="slidenum">
              <a:rPr lang="en-US" smtClean="0"/>
              <a:t>‹#›</a:t>
            </a:fld>
            <a:endParaRPr lang="en-US"/>
          </a:p>
        </p:txBody>
      </p:sp>
    </p:spTree>
    <p:extLst>
      <p:ext uri="{BB962C8B-B14F-4D97-AF65-F5344CB8AC3E}">
        <p14:creationId xmlns:p14="http://schemas.microsoft.com/office/powerpoint/2010/main" val="3489365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233132-3CA0-9BF0-A764-0795143096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B61850-518E-2FA3-FBB0-CE0A32877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131C3-470A-CC23-3094-AA6CFB64CA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CDFC4D-B52B-44BA-8CB5-8E21B2C18131}" type="datetimeFigureOut">
              <a:rPr lang="en-US" smtClean="0"/>
              <a:t>5/2/2025</a:t>
            </a:fld>
            <a:endParaRPr lang="en-US"/>
          </a:p>
        </p:txBody>
      </p:sp>
      <p:sp>
        <p:nvSpPr>
          <p:cNvPr id="5" name="Footer Placeholder 4">
            <a:extLst>
              <a:ext uri="{FF2B5EF4-FFF2-40B4-BE49-F238E27FC236}">
                <a16:creationId xmlns:a16="http://schemas.microsoft.com/office/drawing/2014/main" id="{3C4A637E-1BF9-60E3-29EE-34B97EC4EB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D204E-45D4-E089-5ECD-1A2404C8FD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3FC4E-71DE-4C86-B31B-1D3BC4CFC775}" type="slidenum">
              <a:rPr lang="en-US" smtClean="0"/>
              <a:t>‹#›</a:t>
            </a:fld>
            <a:endParaRPr lang="en-US"/>
          </a:p>
        </p:txBody>
      </p:sp>
    </p:spTree>
    <p:extLst>
      <p:ext uri="{BB962C8B-B14F-4D97-AF65-F5344CB8AC3E}">
        <p14:creationId xmlns:p14="http://schemas.microsoft.com/office/powerpoint/2010/main" val="979652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42131-EE95-BEA9-5A53-54BD310B13E5}"/>
              </a:ext>
            </a:extLst>
          </p:cNvPr>
          <p:cNvSpPr>
            <a:spLocks noGrp="1"/>
          </p:cNvSpPr>
          <p:nvPr>
            <p:ph type="ctrTitle"/>
          </p:nvPr>
        </p:nvSpPr>
        <p:spPr>
          <a:xfrm>
            <a:off x="3503327" y="745698"/>
            <a:ext cx="5186842" cy="2387918"/>
          </a:xfrm>
        </p:spPr>
        <p:txBody>
          <a:bodyPr anchor="b">
            <a:normAutofit/>
          </a:bodyPr>
          <a:lstStyle/>
          <a:p>
            <a:r>
              <a:rPr lang="es-CO" sz="5200" dirty="0">
                <a:solidFill>
                  <a:schemeClr val="tx2"/>
                </a:solidFill>
              </a:rPr>
              <a:t>BENCHMARK</a:t>
            </a:r>
            <a:endParaRPr lang="en-US" sz="5200" dirty="0">
              <a:solidFill>
                <a:schemeClr val="tx2"/>
              </a:solidFill>
            </a:endParaRPr>
          </a:p>
        </p:txBody>
      </p:sp>
      <p:sp>
        <p:nvSpPr>
          <p:cNvPr id="3" name="Subtitle 2">
            <a:extLst>
              <a:ext uri="{FF2B5EF4-FFF2-40B4-BE49-F238E27FC236}">
                <a16:creationId xmlns:a16="http://schemas.microsoft.com/office/drawing/2014/main" id="{491C29DF-CF00-A6C9-14DE-ED44C9E0002A}"/>
              </a:ext>
            </a:extLst>
          </p:cNvPr>
          <p:cNvSpPr>
            <a:spLocks noGrp="1"/>
          </p:cNvSpPr>
          <p:nvPr>
            <p:ph type="subTitle" idx="1"/>
          </p:nvPr>
        </p:nvSpPr>
        <p:spPr>
          <a:xfrm>
            <a:off x="3502135" y="4001587"/>
            <a:ext cx="5188034" cy="682079"/>
          </a:xfrm>
        </p:spPr>
        <p:txBody>
          <a:bodyPr>
            <a:normAutofit/>
          </a:bodyPr>
          <a:lstStyle/>
          <a:p>
            <a:r>
              <a:rPr lang="es-CO" dirty="0" err="1">
                <a:solidFill>
                  <a:schemeClr val="bg1"/>
                </a:solidFill>
              </a:rPr>
              <a:t>December</a:t>
            </a:r>
            <a:r>
              <a:rPr lang="es-CO" dirty="0">
                <a:solidFill>
                  <a:schemeClr val="bg1"/>
                </a:solidFill>
              </a:rPr>
              <a:t> 2024</a:t>
            </a:r>
            <a:endParaRPr lang="en-US" dirty="0">
              <a:solidFill>
                <a:schemeClr val="bg1"/>
              </a:solidFill>
            </a:endParaRPr>
          </a:p>
        </p:txBody>
      </p:sp>
    </p:spTree>
    <p:extLst>
      <p:ext uri="{BB962C8B-B14F-4D97-AF65-F5344CB8AC3E}">
        <p14:creationId xmlns:p14="http://schemas.microsoft.com/office/powerpoint/2010/main" val="3470377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F3F46-2E76-B620-8F77-54FC3B54CBA9}"/>
              </a:ext>
            </a:extLst>
          </p:cNvPr>
          <p:cNvSpPr>
            <a:spLocks noGrp="1"/>
          </p:cNvSpPr>
          <p:nvPr>
            <p:ph type="title"/>
          </p:nvPr>
        </p:nvSpPr>
        <p:spPr>
          <a:xfrm>
            <a:off x="1073988" y="330758"/>
            <a:ext cx="10044023" cy="877729"/>
          </a:xfrm>
        </p:spPr>
        <p:txBody>
          <a:bodyPr anchor="ctr">
            <a:normAutofit/>
          </a:bodyPr>
          <a:lstStyle/>
          <a:p>
            <a:pPr marL="0" marR="0" lvl="0" indent="0" defTabSz="914400" rtl="0" eaLnBrk="0" fontAlgn="base" latinLnBrk="0" hangingPunct="0">
              <a:spcBef>
                <a:spcPct val="0"/>
              </a:spcBef>
              <a:spcAft>
                <a:spcPct val="0"/>
              </a:spcAft>
              <a:buClrTx/>
              <a:buSzTx/>
              <a:buFontTx/>
              <a:buNone/>
              <a:tabLst/>
            </a:pPr>
            <a:r>
              <a:rPr kumimoji="0" lang="en-US" altLang="en-US" sz="4000" b="1" i="0" u="none" strike="noStrike" cap="none" normalizeH="0" baseline="0" dirty="0">
                <a:ln>
                  <a:noFill/>
                </a:ln>
                <a:effectLst/>
                <a:latin typeface="Arial" panose="020B0604020202020204" pitchFamily="34" charset="0"/>
              </a:rPr>
              <a:t>Benchmark</a:t>
            </a:r>
          </a:p>
        </p:txBody>
      </p:sp>
      <p:graphicFrame>
        <p:nvGraphicFramePr>
          <p:cNvPr id="4" name="Content Placeholder 3">
            <a:extLst>
              <a:ext uri="{FF2B5EF4-FFF2-40B4-BE49-F238E27FC236}">
                <a16:creationId xmlns:a16="http://schemas.microsoft.com/office/drawing/2014/main" id="{1CFEFF3F-A599-E3B7-F740-F606497DDA63}"/>
              </a:ext>
            </a:extLst>
          </p:cNvPr>
          <p:cNvGraphicFramePr>
            <a:graphicFrameLocks noGrp="1"/>
          </p:cNvGraphicFramePr>
          <p:nvPr>
            <p:ph idx="1"/>
            <p:extLst>
              <p:ext uri="{D42A27DB-BD31-4B8C-83A1-F6EECF244321}">
                <p14:modId xmlns:p14="http://schemas.microsoft.com/office/powerpoint/2010/main" val="3549120784"/>
              </p:ext>
            </p:extLst>
          </p:nvPr>
        </p:nvGraphicFramePr>
        <p:xfrm>
          <a:off x="1716279" y="1208487"/>
          <a:ext cx="8759440" cy="4386095"/>
        </p:xfrm>
        <a:graphic>
          <a:graphicData uri="http://schemas.openxmlformats.org/drawingml/2006/table">
            <a:tbl>
              <a:tblPr/>
              <a:tblGrid>
                <a:gridCol w="1374952">
                  <a:extLst>
                    <a:ext uri="{9D8B030D-6E8A-4147-A177-3AD203B41FA5}">
                      <a16:colId xmlns:a16="http://schemas.microsoft.com/office/drawing/2014/main" val="2165908597"/>
                    </a:ext>
                  </a:extLst>
                </a:gridCol>
                <a:gridCol w="2932846">
                  <a:extLst>
                    <a:ext uri="{9D8B030D-6E8A-4147-A177-3AD203B41FA5}">
                      <a16:colId xmlns:a16="http://schemas.microsoft.com/office/drawing/2014/main" val="1636930538"/>
                    </a:ext>
                  </a:extLst>
                </a:gridCol>
                <a:gridCol w="2584958">
                  <a:extLst>
                    <a:ext uri="{9D8B030D-6E8A-4147-A177-3AD203B41FA5}">
                      <a16:colId xmlns:a16="http://schemas.microsoft.com/office/drawing/2014/main" val="2606591407"/>
                    </a:ext>
                  </a:extLst>
                </a:gridCol>
                <a:gridCol w="1866684">
                  <a:extLst>
                    <a:ext uri="{9D8B030D-6E8A-4147-A177-3AD203B41FA5}">
                      <a16:colId xmlns:a16="http://schemas.microsoft.com/office/drawing/2014/main" val="1774257203"/>
                    </a:ext>
                  </a:extLst>
                </a:gridCol>
              </a:tblGrid>
              <a:tr h="239589">
                <a:tc>
                  <a:txBody>
                    <a:bodyPr/>
                    <a:lstStyle/>
                    <a:p>
                      <a:pPr algn="l" fontAlgn="ctr"/>
                      <a:r>
                        <a:rPr lang="en-US" sz="1100" b="1" i="0" u="none" strike="noStrike">
                          <a:effectLst/>
                          <a:latin typeface="Arial" panose="020B0604020202020204" pitchFamily="34" charset="0"/>
                        </a:rPr>
                        <a:t>Provider</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ctr"/>
                      <a:r>
                        <a:rPr lang="en-US" sz="1100" b="1" i="0" u="none" strike="noStrike">
                          <a:effectLst/>
                          <a:latin typeface="Arial" panose="020B0604020202020204" pitchFamily="34" charset="0"/>
                        </a:rPr>
                        <a:t>Key Strengths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ctr"/>
                      <a:r>
                        <a:rPr lang="en-US" sz="1100" b="1" i="0" u="none" strike="noStrike">
                          <a:effectLst/>
                          <a:latin typeface="Arial" panose="020B0604020202020204" pitchFamily="34" charset="0"/>
                        </a:rPr>
                        <a:t>Weaknesses and Considerations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ctr"/>
                      <a:r>
                        <a:rPr lang="en-US" sz="1100" b="1" i="0" u="none" strike="noStrike">
                          <a:effectLst/>
                          <a:latin typeface="Arial" panose="020B0604020202020204" pitchFamily="34" charset="0"/>
                        </a:rPr>
                        <a:t>Service Offerings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488891197"/>
                  </a:ext>
                </a:extLst>
              </a:tr>
              <a:tr h="566301">
                <a:tc>
                  <a:txBody>
                    <a:bodyPr/>
                    <a:lstStyle/>
                    <a:p>
                      <a:pPr algn="l" fontAlgn="ctr"/>
                      <a:r>
                        <a:rPr lang="en-US" sz="1100" b="1" i="0" u="none" strike="noStrike">
                          <a:effectLst/>
                          <a:latin typeface="Arial" panose="020B0604020202020204" pitchFamily="34" charset="0"/>
                        </a:rPr>
                        <a:t>Hotwire</a:t>
                      </a:r>
                      <a:endParaRPr lang="en-US" sz="1100" b="0" i="0" u="none" strike="noStrike">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Strong regional presence, high reliability, symmetrical speeds, comprehensive managed </a:t>
                      </a:r>
                      <a:r>
                        <a:rPr lang="en-US" sz="1100" b="0" i="0" u="none" strike="noStrike" dirty="0" err="1">
                          <a:effectLst/>
                          <a:latin typeface="Arial" panose="020B0604020202020204" pitchFamily="34" charset="0"/>
                        </a:rPr>
                        <a:t>WiFi</a:t>
                      </a:r>
                      <a:r>
                        <a:rPr lang="en-US" sz="1100" b="0" i="0" u="none" strike="noStrike" dirty="0">
                          <a:effectLst/>
                          <a:latin typeface="Arial" panose="020B0604020202020204" pitchFamily="34" charset="0"/>
                        </a:rPr>
                        <a:t> for MDUs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Higher price points compared to regional competitors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Fiber internet, </a:t>
                      </a:r>
                      <a:r>
                        <a:rPr lang="en-US" sz="1100" b="0" i="0" u="none" strike="noStrike" dirty="0" err="1">
                          <a:effectLst/>
                          <a:latin typeface="Arial" panose="020B0604020202020204" pitchFamily="34" charset="0"/>
                        </a:rPr>
                        <a:t>Fision</a:t>
                      </a:r>
                      <a:r>
                        <a:rPr lang="en-US" sz="1100" b="0" i="0" u="none" strike="noStrike" dirty="0">
                          <a:effectLst/>
                          <a:latin typeface="Arial" panose="020B0604020202020204" pitchFamily="34" charset="0"/>
                        </a:rPr>
                        <a:t> TV, managed </a:t>
                      </a:r>
                      <a:r>
                        <a:rPr lang="en-US" sz="1100" b="0" i="0" u="none" strike="noStrike" dirty="0" err="1">
                          <a:effectLst/>
                          <a:latin typeface="Arial" panose="020B0604020202020204" pitchFamily="34" charset="0"/>
                        </a:rPr>
                        <a:t>WiFi</a:t>
                      </a:r>
                      <a:endParaRPr lang="en-US" sz="1100" b="0" i="0" u="none" strike="noStrike" dirty="0">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401079"/>
                  </a:ext>
                </a:extLst>
              </a:tr>
              <a:tr h="566301">
                <a:tc>
                  <a:txBody>
                    <a:bodyPr/>
                    <a:lstStyle/>
                    <a:p>
                      <a:pPr algn="l" fontAlgn="ctr"/>
                      <a:r>
                        <a:rPr lang="en-US" sz="1100" b="1" i="0" u="none" strike="noStrike" dirty="0" err="1">
                          <a:effectLst/>
                          <a:latin typeface="Arial" panose="020B0604020202020204" pitchFamily="34" charset="0"/>
                        </a:rPr>
                        <a:t>Bluestream</a:t>
                      </a:r>
                      <a:endParaRPr lang="en-US" sz="1100" b="0" i="0" u="none" strike="noStrike" dirty="0">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Known for customer support, full home </a:t>
                      </a:r>
                      <a:r>
                        <a:rPr lang="en-US" sz="1100" b="0" i="0" u="none" strike="noStrike" dirty="0" err="1">
                          <a:effectLst/>
                          <a:latin typeface="Arial" panose="020B0604020202020204" pitchFamily="34" charset="0"/>
                        </a:rPr>
                        <a:t>WiFi</a:t>
                      </a:r>
                      <a:r>
                        <a:rPr lang="en-US" sz="1100" b="0" i="0" u="none" strike="noStrike" dirty="0">
                          <a:effectLst/>
                          <a:latin typeface="Arial" panose="020B0604020202020204" pitchFamily="34" charset="0"/>
                        </a:rPr>
                        <a:t> coverage, dedicated community channels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Limited coverage outside select regions in FL</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High-speed fiber, managed </a:t>
                      </a:r>
                      <a:r>
                        <a:rPr lang="en-US" sz="1100" b="0" i="0" u="none" strike="noStrike" dirty="0" err="1">
                          <a:effectLst/>
                          <a:latin typeface="Arial" panose="020B0604020202020204" pitchFamily="34" charset="0"/>
                        </a:rPr>
                        <a:t>WiFi</a:t>
                      </a:r>
                      <a:r>
                        <a:rPr lang="en-US" sz="1100" b="0" i="0" u="none" strike="noStrike" dirty="0">
                          <a:effectLst/>
                          <a:latin typeface="Arial" panose="020B0604020202020204" pitchFamily="34" charset="0"/>
                        </a:rPr>
                        <a:t>, streaming</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6748704"/>
                  </a:ext>
                </a:extLst>
              </a:tr>
              <a:tr h="402945">
                <a:tc>
                  <a:txBody>
                    <a:bodyPr/>
                    <a:lstStyle/>
                    <a:p>
                      <a:pPr algn="l" fontAlgn="ctr"/>
                      <a:r>
                        <a:rPr lang="en-US" sz="1100" b="1" i="0" u="none" strike="noStrike">
                          <a:effectLst/>
                          <a:latin typeface="Arial" panose="020B0604020202020204" pitchFamily="34" charset="0"/>
                        </a:rPr>
                        <a:t>AT&amp;T Fiber</a:t>
                      </a:r>
                      <a:endParaRPr lang="en-US" sz="1100" b="0" i="0" u="none" strike="noStrike">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Extensive coverage, flexible pricing, and multiple speed tiers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Lower customer support ratings; limited local focus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Fiber internet, TV, mobile</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2282480"/>
                  </a:ext>
                </a:extLst>
              </a:tr>
              <a:tr h="402945">
                <a:tc>
                  <a:txBody>
                    <a:bodyPr/>
                    <a:lstStyle/>
                    <a:p>
                      <a:pPr algn="l" fontAlgn="ctr"/>
                      <a:r>
                        <a:rPr lang="es-CO" sz="1100" b="1" i="0" u="none" strike="noStrike" dirty="0" err="1">
                          <a:effectLst/>
                          <a:latin typeface="Arial" panose="020B0604020202020204" pitchFamily="34" charset="0"/>
                        </a:rPr>
                        <a:t>Smartaira</a:t>
                      </a:r>
                      <a:endParaRPr lang="en-US" sz="1100" b="1" i="0" u="none" strike="noStrike" dirty="0">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Tailored MDU solutions, innovative technology (</a:t>
                      </a:r>
                      <a:r>
                        <a:rPr lang="en-US" sz="1100" b="0" i="0" u="none" strike="noStrike" err="1">
                          <a:effectLst/>
                          <a:latin typeface="Arial" panose="020B0604020202020204" pitchFamily="34" charset="0"/>
                        </a:rPr>
                        <a:t>InstantON</a:t>
                      </a:r>
                      <a:r>
                        <a:rPr lang="en-US" sz="1100" b="0" i="0" u="none" strike="noStrike">
                          <a:effectLst/>
                          <a:latin typeface="Arial" panose="020B0604020202020204" pitchFamily="34" charset="0"/>
                        </a:rPr>
                        <a:t>, </a:t>
                      </a:r>
                      <a:r>
                        <a:rPr lang="en-US" sz="1100" b="0" i="0" u="none" strike="noStrike" err="1">
                          <a:effectLst/>
                          <a:latin typeface="Arial" panose="020B0604020202020204" pitchFamily="34" charset="0"/>
                        </a:rPr>
                        <a:t>Smartaira</a:t>
                      </a:r>
                      <a:r>
                        <a:rPr lang="en-US" sz="1100" b="0" i="0" u="none" strike="noStrike">
                          <a:effectLst/>
                          <a:latin typeface="Arial" panose="020B0604020202020204" pitchFamily="34" charset="0"/>
                        </a:rPr>
                        <a:t> 360), unlimited data plans, 24/7 technical support</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Limited brand recognition, geographical reach, resource constraints for rapid tech advancements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s-CO" sz="1100" b="0" i="0" u="none" strike="noStrike" dirty="0" err="1">
                          <a:effectLst/>
                          <a:latin typeface="Arial" panose="020B0604020202020204" pitchFamily="34" charset="0"/>
                        </a:rPr>
                        <a:t>Fiber</a:t>
                      </a:r>
                      <a:r>
                        <a:rPr lang="es-CO" sz="1100" b="0" i="0" u="none" strike="noStrike" dirty="0">
                          <a:effectLst/>
                          <a:latin typeface="Arial" panose="020B0604020202020204" pitchFamily="34" charset="0"/>
                        </a:rPr>
                        <a:t> internet, </a:t>
                      </a:r>
                      <a:r>
                        <a:rPr lang="es-CO" sz="1100" b="0" i="0" u="none" strike="noStrike" dirty="0" err="1">
                          <a:effectLst/>
                          <a:latin typeface="Arial" panose="020B0604020202020204" pitchFamily="34" charset="0"/>
                        </a:rPr>
                        <a:t>Managed</a:t>
                      </a:r>
                      <a:r>
                        <a:rPr lang="es-CO" sz="1100" b="0" i="0" u="none" strike="noStrike" dirty="0">
                          <a:effectLst/>
                          <a:latin typeface="Arial" panose="020B0604020202020204" pitchFamily="34" charset="0"/>
                        </a:rPr>
                        <a:t> </a:t>
                      </a:r>
                      <a:r>
                        <a:rPr lang="es-CO" sz="1100" b="0" i="0" u="none" strike="noStrike" dirty="0" err="1">
                          <a:effectLst/>
                          <a:latin typeface="Arial" panose="020B0604020202020204" pitchFamily="34" charset="0"/>
                        </a:rPr>
                        <a:t>WiFi</a:t>
                      </a:r>
                      <a:endParaRPr lang="en-US" sz="1100" b="0" i="0" u="none" strike="noStrike" dirty="0">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4628880"/>
                  </a:ext>
                </a:extLst>
              </a:tr>
              <a:tr h="402945">
                <a:tc>
                  <a:txBody>
                    <a:bodyPr/>
                    <a:lstStyle/>
                    <a:p>
                      <a:pPr algn="l" fontAlgn="ctr"/>
                      <a:r>
                        <a:rPr lang="en-US" sz="1100" b="1" i="0" u="none" strike="noStrike">
                          <a:effectLst/>
                          <a:latin typeface="Arial" panose="020B0604020202020204" pitchFamily="34" charset="0"/>
                        </a:rPr>
                        <a:t>Comcast/Xfinity</a:t>
                      </a:r>
                      <a:endParaRPr lang="en-US" sz="1100" b="0" i="0" u="none" strike="noStrike">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Broadest service reach, competitive pricing, advanced TV solutions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Customer service issues, slower upload speeds for fiber</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Cable, fiber, mobile</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2057281"/>
                  </a:ext>
                </a:extLst>
              </a:tr>
              <a:tr h="402945">
                <a:tc>
                  <a:txBody>
                    <a:bodyPr/>
                    <a:lstStyle/>
                    <a:p>
                      <a:pPr algn="l" fontAlgn="ctr"/>
                      <a:r>
                        <a:rPr lang="en-US" sz="1100" b="1" i="0" u="none" strike="noStrike">
                          <a:effectLst/>
                          <a:latin typeface="Arial" panose="020B0604020202020204" pitchFamily="34" charset="0"/>
                        </a:rPr>
                        <a:t>CenturyLink</a:t>
                      </a:r>
                      <a:endParaRPr lang="en-US" sz="1100" b="0" i="0" u="none" strike="noStrike">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High speeds in specific areas, straightforward pricing, increasing fiber footprint</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Limited customer service options; slower expansion in MDUs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Fiber internet, security</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9100336"/>
                  </a:ext>
                </a:extLst>
              </a:tr>
              <a:tr h="402945">
                <a:tc>
                  <a:txBody>
                    <a:bodyPr/>
                    <a:lstStyle/>
                    <a:p>
                      <a:pPr algn="l" fontAlgn="ctr"/>
                      <a:r>
                        <a:rPr lang="en-US" sz="1100" b="1" i="0" u="none" strike="noStrike">
                          <a:effectLst/>
                          <a:latin typeface="Arial" panose="020B0604020202020204" pitchFamily="34" charset="0"/>
                        </a:rPr>
                        <a:t>Frontier fiber</a:t>
                      </a:r>
                      <a:endParaRPr lang="en-US" sz="1100" b="0" i="0" u="none" strike="noStrike">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Affordable plans, increasing fiber presence, improving customer service</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Slower speeds and lower reliability in some regions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Fiber internet, home security</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5663609"/>
                  </a:ext>
                </a:extLst>
              </a:tr>
              <a:tr h="441807">
                <a:tc>
                  <a:txBody>
                    <a:bodyPr/>
                    <a:lstStyle/>
                    <a:p>
                      <a:pPr algn="l" fontAlgn="ctr"/>
                      <a:r>
                        <a:rPr lang="en-US" sz="1100" b="1" i="0" u="none" strike="noStrike">
                          <a:effectLst/>
                          <a:latin typeface="Arial" panose="020B0604020202020204" pitchFamily="34" charset="0"/>
                        </a:rPr>
                        <a:t>Quantum Fiber</a:t>
                      </a:r>
                      <a:endParaRPr lang="en-US" sz="1100" b="0" i="0" u="none" strike="noStrike">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Growing presence in select areas, high speeds, flexibility with contracts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Limited availability, fewer value-added services</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Fiber internet</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3649546"/>
                  </a:ext>
                </a:extLst>
              </a:tr>
              <a:tr h="402945">
                <a:tc>
                  <a:txBody>
                    <a:bodyPr/>
                    <a:lstStyle/>
                    <a:p>
                      <a:pPr algn="l" fontAlgn="ctr"/>
                      <a:r>
                        <a:rPr lang="en-US" sz="1100" b="1" i="0" u="none" strike="noStrike">
                          <a:effectLst/>
                          <a:latin typeface="Arial" panose="020B0604020202020204" pitchFamily="34" charset="0"/>
                        </a:rPr>
                        <a:t>Celerity Fiber</a:t>
                      </a:r>
                      <a:endParaRPr lang="en-US" sz="1100" b="0" i="0" u="none" strike="noStrike">
                        <a:effectLst/>
                        <a:latin typeface="Arial" panose="020B0604020202020204" pitchFamily="34" charset="0"/>
                      </a:endParaRP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Local expertise, customer-focused, managed </a:t>
                      </a:r>
                      <a:r>
                        <a:rPr lang="en-US" sz="1100" b="0" i="0" u="none" strike="noStrike" dirty="0" err="1">
                          <a:effectLst/>
                          <a:latin typeface="Arial" panose="020B0604020202020204" pitchFamily="34" charset="0"/>
                        </a:rPr>
                        <a:t>WiFi</a:t>
                      </a:r>
                      <a:r>
                        <a:rPr lang="en-US" sz="1100" b="0" i="0" u="none" strike="noStrike" dirty="0">
                          <a:effectLst/>
                          <a:latin typeface="Arial" panose="020B0604020202020204" pitchFamily="34" charset="0"/>
                        </a:rPr>
                        <a:t>, personalized support in Florida</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rPr>
                        <a:t>Lower brand recognition, need for increased market visibility</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rPr>
                        <a:t>Fiber internet, TV, managed </a:t>
                      </a:r>
                      <a:r>
                        <a:rPr lang="en-US" sz="1100" b="0" i="0" u="none" strike="noStrike" dirty="0" err="1">
                          <a:effectLst/>
                          <a:latin typeface="Arial" panose="020B0604020202020204" pitchFamily="34" charset="0"/>
                        </a:rPr>
                        <a:t>WiFi</a:t>
                      </a:r>
                      <a:r>
                        <a:rPr lang="en-US" sz="1100" b="0" i="0" u="none" strike="noStrike" dirty="0">
                          <a:effectLst/>
                          <a:latin typeface="Arial" panose="020B0604020202020204" pitchFamily="34" charset="0"/>
                        </a:rPr>
                        <a:t>, referral program</a:t>
                      </a:r>
                    </a:p>
                  </a:txBody>
                  <a:tcPr marL="54452" marR="54452" marT="27226" marB="272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2116466"/>
                  </a:ext>
                </a:extLst>
              </a:tr>
            </a:tbl>
          </a:graphicData>
        </a:graphic>
      </p:graphicFrame>
    </p:spTree>
    <p:extLst>
      <p:ext uri="{BB962C8B-B14F-4D97-AF65-F5344CB8AC3E}">
        <p14:creationId xmlns:p14="http://schemas.microsoft.com/office/powerpoint/2010/main" val="1285201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Object 24">
            <a:extLst>
              <a:ext uri="{FF2B5EF4-FFF2-40B4-BE49-F238E27FC236}">
                <a16:creationId xmlns:a16="http://schemas.microsoft.com/office/drawing/2014/main" id="{08B745E5-C733-AFFC-ED14-1D84C24F712A}"/>
              </a:ext>
            </a:extLst>
          </p:cNvPr>
          <p:cNvGraphicFramePr>
            <a:graphicFrameLocks noChangeAspect="1"/>
          </p:cNvGraphicFramePr>
          <p:nvPr>
            <p:extLst>
              <p:ext uri="{D42A27DB-BD31-4B8C-83A1-F6EECF244321}">
                <p14:modId xmlns:p14="http://schemas.microsoft.com/office/powerpoint/2010/main" val="1271681496"/>
              </p:ext>
            </p:extLst>
          </p:nvPr>
        </p:nvGraphicFramePr>
        <p:xfrm>
          <a:off x="1946037" y="745736"/>
          <a:ext cx="7800975" cy="4581525"/>
        </p:xfrm>
        <a:graphic>
          <a:graphicData uri="http://schemas.openxmlformats.org/presentationml/2006/ole">
            <mc:AlternateContent xmlns:mc="http://schemas.openxmlformats.org/markup-compatibility/2006">
              <mc:Choice xmlns:v="urn:schemas-microsoft-com:vml" Requires="v">
                <p:oleObj name="Worksheet" r:id="rId2" imgW="7801051" imgH="4581648" progId="Excel.Sheet.12">
                  <p:embed/>
                </p:oleObj>
              </mc:Choice>
              <mc:Fallback>
                <p:oleObj name="Worksheet" r:id="rId2" imgW="7801051" imgH="4581648" progId="Excel.Sheet.12">
                  <p:embed/>
                  <p:pic>
                    <p:nvPicPr>
                      <p:cNvPr id="25" name="Object 24">
                        <a:extLst>
                          <a:ext uri="{FF2B5EF4-FFF2-40B4-BE49-F238E27FC236}">
                            <a16:creationId xmlns:a16="http://schemas.microsoft.com/office/drawing/2014/main" id="{08B745E5-C733-AFFC-ED14-1D84C24F712A}"/>
                          </a:ext>
                        </a:extLst>
                      </p:cNvPr>
                      <p:cNvPicPr/>
                      <p:nvPr/>
                    </p:nvPicPr>
                    <p:blipFill>
                      <a:blip r:embed="rId3"/>
                      <a:stretch>
                        <a:fillRect/>
                      </a:stretch>
                    </p:blipFill>
                    <p:spPr>
                      <a:xfrm>
                        <a:off x="1946037" y="745736"/>
                        <a:ext cx="7800975" cy="4581525"/>
                      </a:xfrm>
                      <a:prstGeom prst="rect">
                        <a:avLst/>
                      </a:prstGeom>
                    </p:spPr>
                  </p:pic>
                </p:oleObj>
              </mc:Fallback>
            </mc:AlternateContent>
          </a:graphicData>
        </a:graphic>
      </p:graphicFrame>
    </p:spTree>
    <p:extLst>
      <p:ext uri="{BB962C8B-B14F-4D97-AF65-F5344CB8AC3E}">
        <p14:creationId xmlns:p14="http://schemas.microsoft.com/office/powerpoint/2010/main" val="183349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0C977-1F1C-5DD4-A127-DAB596FEC7F7}"/>
              </a:ext>
            </a:extLst>
          </p:cNvPr>
          <p:cNvSpPr>
            <a:spLocks noGrp="1"/>
          </p:cNvSpPr>
          <p:nvPr>
            <p:ph type="title"/>
          </p:nvPr>
        </p:nvSpPr>
        <p:spPr>
          <a:xfrm>
            <a:off x="838200" y="301117"/>
            <a:ext cx="10515600" cy="1325563"/>
          </a:xfrm>
        </p:spPr>
        <p:txBody>
          <a:bodyPr/>
          <a:lstStyle/>
          <a:p>
            <a:r>
              <a:rPr lang="es-CO" dirty="0" err="1"/>
              <a:t>Benchmark</a:t>
            </a:r>
            <a:r>
              <a:rPr lang="es-CO" dirty="0"/>
              <a:t> Top </a:t>
            </a:r>
            <a:r>
              <a:rPr lang="es-CO" dirty="0" err="1"/>
              <a:t>Competitors</a:t>
            </a:r>
            <a:endParaRPr lang="en-US" dirty="0"/>
          </a:p>
        </p:txBody>
      </p:sp>
      <p:graphicFrame>
        <p:nvGraphicFramePr>
          <p:cNvPr id="4" name="Content Placeholder 3">
            <a:extLst>
              <a:ext uri="{FF2B5EF4-FFF2-40B4-BE49-F238E27FC236}">
                <a16:creationId xmlns:a16="http://schemas.microsoft.com/office/drawing/2014/main" id="{DE426A9F-5D1F-5DAC-AD74-73FCC53CA192}"/>
              </a:ext>
            </a:extLst>
          </p:cNvPr>
          <p:cNvGraphicFramePr>
            <a:graphicFrameLocks noGrp="1"/>
          </p:cNvGraphicFramePr>
          <p:nvPr>
            <p:ph idx="1"/>
            <p:extLst>
              <p:ext uri="{D42A27DB-BD31-4B8C-83A1-F6EECF244321}">
                <p14:modId xmlns:p14="http://schemas.microsoft.com/office/powerpoint/2010/main" val="2195966913"/>
              </p:ext>
            </p:extLst>
          </p:nvPr>
        </p:nvGraphicFramePr>
        <p:xfrm>
          <a:off x="1965960" y="1418942"/>
          <a:ext cx="7644384" cy="4215730"/>
        </p:xfrm>
        <a:graphic>
          <a:graphicData uri="http://schemas.openxmlformats.org/drawingml/2006/table">
            <a:tbl>
              <a:tblPr/>
              <a:tblGrid>
                <a:gridCol w="2548128">
                  <a:extLst>
                    <a:ext uri="{9D8B030D-6E8A-4147-A177-3AD203B41FA5}">
                      <a16:colId xmlns:a16="http://schemas.microsoft.com/office/drawing/2014/main" val="30827907"/>
                    </a:ext>
                  </a:extLst>
                </a:gridCol>
                <a:gridCol w="2548128">
                  <a:extLst>
                    <a:ext uri="{9D8B030D-6E8A-4147-A177-3AD203B41FA5}">
                      <a16:colId xmlns:a16="http://schemas.microsoft.com/office/drawing/2014/main" val="1092621369"/>
                    </a:ext>
                  </a:extLst>
                </a:gridCol>
                <a:gridCol w="2548128">
                  <a:extLst>
                    <a:ext uri="{9D8B030D-6E8A-4147-A177-3AD203B41FA5}">
                      <a16:colId xmlns:a16="http://schemas.microsoft.com/office/drawing/2014/main" val="224526325"/>
                    </a:ext>
                  </a:extLst>
                </a:gridCol>
              </a:tblGrid>
              <a:tr h="198909">
                <a:tc>
                  <a:txBody>
                    <a:bodyPr/>
                    <a:lstStyle/>
                    <a:p>
                      <a:r>
                        <a:rPr lang="en-US" sz="1050" b="1" dirty="0"/>
                        <a:t>Competitor</a:t>
                      </a:r>
                      <a:endParaRPr lang="en-US" sz="1050" dirty="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050" b="1" dirty="0"/>
                        <a:t>Key Strengths</a:t>
                      </a:r>
                      <a:endParaRPr lang="en-US" sz="1050" dirty="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050" b="1" dirty="0"/>
                        <a:t>Celerity Fiber’s Advantages</a:t>
                      </a:r>
                      <a:endParaRPr lang="en-US" sz="1050" dirty="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28136257"/>
                  </a:ext>
                </a:extLst>
              </a:tr>
              <a:tr h="899948">
                <a:tc>
                  <a:txBody>
                    <a:bodyPr/>
                    <a:lstStyle/>
                    <a:p>
                      <a:r>
                        <a:rPr lang="en-US" sz="1050" b="1" dirty="0"/>
                        <a:t>AT&amp;T Fiber</a:t>
                      </a:r>
                      <a:endParaRPr lang="en-US" sz="1050" dirty="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t>- Nationwide coverage</a:t>
                      </a:r>
                      <a:br>
                        <a:rPr lang="en-US" sz="1050" dirty="0"/>
                      </a:br>
                      <a:r>
                        <a:rPr lang="en-US" sz="1050" dirty="0"/>
                        <a:t>- Extensive infrastructure</a:t>
                      </a:r>
                      <a:br>
                        <a:rPr lang="en-US" sz="1050" dirty="0"/>
                      </a:br>
                      <a:r>
                        <a:rPr lang="en-US" sz="1050" dirty="0"/>
                        <a:t>- Strong brand recognition</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Florida-focused expertise for personalized, faster response times.</a:t>
                      </a:r>
                      <a:br>
                        <a:rPr lang="en-US" sz="1050"/>
                      </a:br>
                      <a:r>
                        <a:rPr lang="en-US" sz="1050"/>
                        <a:t>- Competitive pricing with flexible plans.</a:t>
                      </a:r>
                      <a:br>
                        <a:rPr lang="en-US" sz="1050"/>
                      </a:br>
                      <a:r>
                        <a:rPr lang="en-US" sz="1050"/>
                        <a:t>- Superior customer service.</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7665781"/>
                  </a:ext>
                </a:extLst>
              </a:tr>
              <a:tr h="899948">
                <a:tc>
                  <a:txBody>
                    <a:bodyPr/>
                    <a:lstStyle/>
                    <a:p>
                      <a:r>
                        <a:rPr lang="en-US" sz="1050" b="1"/>
                        <a:t>Bluestream Fiber</a:t>
                      </a:r>
                      <a:endParaRPr lang="en-US" sz="105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t>- Local expertise in Florida</a:t>
                      </a:r>
                      <a:br>
                        <a:rPr lang="en-US" sz="1050" dirty="0"/>
                      </a:br>
                      <a:r>
                        <a:rPr lang="en-US" sz="1050" dirty="0"/>
                        <a:t>- Reliable services</a:t>
                      </a:r>
                      <a:br>
                        <a:rPr lang="en-US" sz="1050" dirty="0"/>
                      </a:br>
                      <a:r>
                        <a:rPr lang="en-US" sz="1050" dirty="0"/>
                        <a:t>- Focused on MDUs</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t>- Managed </a:t>
                      </a:r>
                      <a:r>
                        <a:rPr lang="en-US" sz="1050" dirty="0" err="1"/>
                        <a:t>WiFi</a:t>
                      </a:r>
                      <a:r>
                        <a:rPr lang="en-US" sz="1050" dirty="0"/>
                        <a:t> for tenant satisfaction.</a:t>
                      </a:r>
                      <a:br>
                        <a:rPr lang="en-US" sz="1050" dirty="0"/>
                      </a:br>
                      <a:r>
                        <a:rPr lang="en-US" sz="1050" dirty="0"/>
                        <a:t>- Scalable packages tailored for mid-size to luxury MDUs.</a:t>
                      </a:r>
                      <a:br>
                        <a:rPr lang="en-US" sz="1050" dirty="0"/>
                      </a:br>
                      <a:r>
                        <a:rPr lang="en-US" sz="1050" dirty="0"/>
                        <a:t>- Competitive pricing and quick scalability.</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4500730"/>
                  </a:ext>
                </a:extLst>
              </a:tr>
              <a:tr h="653536">
                <a:tc>
                  <a:txBody>
                    <a:bodyPr/>
                    <a:lstStyle/>
                    <a:p>
                      <a:r>
                        <a:rPr lang="en-US" sz="1050" b="1"/>
                        <a:t>Hotwire Communications</a:t>
                      </a:r>
                      <a:endParaRPr lang="en-US" sz="105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t>- Advanced fiber technology</a:t>
                      </a:r>
                      <a:br>
                        <a:rPr lang="en-US" sz="1050" dirty="0"/>
                      </a:br>
                      <a:r>
                        <a:rPr lang="en-US" sz="1050" dirty="0"/>
                        <a:t>- Smart home integrations</a:t>
                      </a:r>
                      <a:br>
                        <a:rPr lang="en-US" sz="1050" dirty="0"/>
                      </a:br>
                      <a:r>
                        <a:rPr lang="en-US" sz="1050" dirty="0"/>
                        <a:t>- Longstanding presence in MDU markets</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Flexible contract terms.</a:t>
                      </a:r>
                      <a:br>
                        <a:rPr lang="en-US" sz="1050"/>
                      </a:br>
                      <a:r>
                        <a:rPr lang="en-US" sz="1050"/>
                        <a:t>- High ROI for property managers through custom bulk solutions.</a:t>
                      </a:r>
                      <a:br>
                        <a:rPr lang="en-US" sz="1050"/>
                      </a:br>
                      <a:r>
                        <a:rPr lang="en-US" sz="1050"/>
                        <a:t>- Lower setup costs.</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3594526"/>
                  </a:ext>
                </a:extLst>
              </a:tr>
              <a:tr h="757851">
                <a:tc>
                  <a:txBody>
                    <a:bodyPr/>
                    <a:lstStyle/>
                    <a:p>
                      <a:r>
                        <a:rPr lang="en-US" sz="1050" b="1"/>
                        <a:t>Smartaira</a:t>
                      </a:r>
                      <a:endParaRPr lang="en-US" sz="105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Innovative offerings like InstantON and Smartaira 360</a:t>
                      </a:r>
                      <a:br>
                        <a:rPr lang="en-US" sz="1050"/>
                      </a:br>
                      <a:r>
                        <a:rPr lang="en-US" sz="1050"/>
                        <a:t>- Unlimited data plans</a:t>
                      </a:r>
                      <a:br>
                        <a:rPr lang="en-US" sz="1050"/>
                      </a:br>
                      <a:r>
                        <a:rPr lang="en-US" sz="1050"/>
                        <a:t>- 24/7 technical support</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t>- Brand presence in South Florida.</a:t>
                      </a:r>
                      <a:br>
                        <a:rPr lang="en-US" sz="1050" dirty="0"/>
                      </a:br>
                      <a:r>
                        <a:rPr lang="en-US" sz="1050" dirty="0"/>
                        <a:t>- Tailored marketing partnerships.</a:t>
                      </a:r>
                      <a:br>
                        <a:rPr lang="en-US" sz="1050" dirty="0"/>
                      </a:br>
                      <a:r>
                        <a:rPr lang="en-US" sz="1050" dirty="0"/>
                        <a:t>- Proven managed </a:t>
                      </a:r>
                      <a:r>
                        <a:rPr lang="en-US" sz="1050" dirty="0" err="1"/>
                        <a:t>WiFi</a:t>
                      </a:r>
                      <a:r>
                        <a:rPr lang="en-US" sz="1050" dirty="0"/>
                        <a:t> solutions with tenant-focused enhancements.</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5848701"/>
                  </a:ext>
                </a:extLst>
              </a:tr>
              <a:tr h="757851">
                <a:tc>
                  <a:txBody>
                    <a:bodyPr/>
                    <a:lstStyle/>
                    <a:p>
                      <a:r>
                        <a:rPr lang="en-US" sz="1050" b="1" dirty="0"/>
                        <a:t>Comcast/Xfinity</a:t>
                      </a:r>
                      <a:endParaRPr lang="en-US" sz="1050" dirty="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Integrated smart home options</a:t>
                      </a:r>
                      <a:br>
                        <a:rPr lang="en-US" sz="1050"/>
                      </a:br>
                      <a:r>
                        <a:rPr lang="en-US" sz="1050"/>
                        <a:t>- Extensive national reach</a:t>
                      </a:r>
                      <a:br>
                        <a:rPr lang="en-US" sz="1050"/>
                      </a:br>
                      <a:r>
                        <a:rPr lang="en-US" sz="1050"/>
                        <a:t>- Diverse bundle offerings</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t>- Localized service focus for MDUs in Florida.</a:t>
                      </a:r>
                      <a:br>
                        <a:rPr lang="en-US" sz="1050" dirty="0"/>
                      </a:br>
                      <a:r>
                        <a:rPr lang="en-US" sz="1050" dirty="0"/>
                        <a:t>- Custom solutions for high-density and mid-size MDUs.</a:t>
                      </a:r>
                      <a:br>
                        <a:rPr lang="en-US" sz="1050" dirty="0"/>
                      </a:br>
                      <a:r>
                        <a:rPr lang="en-US" sz="1050" dirty="0"/>
                        <a:t>- Personalized service model.</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1982696"/>
                  </a:ext>
                </a:extLst>
              </a:tr>
            </a:tbl>
          </a:graphicData>
        </a:graphic>
      </p:graphicFrame>
    </p:spTree>
    <p:extLst>
      <p:ext uri="{BB962C8B-B14F-4D97-AF65-F5344CB8AC3E}">
        <p14:creationId xmlns:p14="http://schemas.microsoft.com/office/powerpoint/2010/main" val="1878327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FCE21-8A2A-D522-5BCA-2353261B32C0}"/>
              </a:ext>
            </a:extLst>
          </p:cNvPr>
          <p:cNvSpPr>
            <a:spLocks noGrp="1"/>
          </p:cNvSpPr>
          <p:nvPr>
            <p:ph type="title"/>
          </p:nvPr>
        </p:nvSpPr>
        <p:spPr/>
        <p:txBody>
          <a:bodyPr/>
          <a:lstStyle/>
          <a:p>
            <a:r>
              <a:rPr lang="es-CO" dirty="0"/>
              <a:t>DOFA Top </a:t>
            </a:r>
            <a:r>
              <a:rPr lang="es-CO" dirty="0" err="1"/>
              <a:t>Competitors</a:t>
            </a:r>
            <a:endParaRPr lang="en-US" dirty="0"/>
          </a:p>
        </p:txBody>
      </p:sp>
      <p:graphicFrame>
        <p:nvGraphicFramePr>
          <p:cNvPr id="7" name="Content Placeholder 6">
            <a:extLst>
              <a:ext uri="{FF2B5EF4-FFF2-40B4-BE49-F238E27FC236}">
                <a16:creationId xmlns:a16="http://schemas.microsoft.com/office/drawing/2014/main" id="{733639F8-A38B-D39E-6F43-9F5066541FC2}"/>
              </a:ext>
            </a:extLst>
          </p:cNvPr>
          <p:cNvGraphicFramePr>
            <a:graphicFrameLocks noGrp="1"/>
          </p:cNvGraphicFramePr>
          <p:nvPr>
            <p:ph idx="4294967295"/>
            <p:extLst>
              <p:ext uri="{D42A27DB-BD31-4B8C-83A1-F6EECF244321}">
                <p14:modId xmlns:p14="http://schemas.microsoft.com/office/powerpoint/2010/main" val="2063958985"/>
              </p:ext>
            </p:extLst>
          </p:nvPr>
        </p:nvGraphicFramePr>
        <p:xfrm>
          <a:off x="6323516" y="2030857"/>
          <a:ext cx="6529387" cy="3956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A65E6D69-8565-A4C4-5E3B-3F0E54972CC7}"/>
              </a:ext>
            </a:extLst>
          </p:cNvPr>
          <p:cNvGraphicFramePr>
            <a:graphicFrameLocks noGrp="1"/>
          </p:cNvGraphicFramePr>
          <p:nvPr>
            <p:extLst>
              <p:ext uri="{D42A27DB-BD31-4B8C-83A1-F6EECF244321}">
                <p14:modId xmlns:p14="http://schemas.microsoft.com/office/powerpoint/2010/main" val="1256513192"/>
              </p:ext>
            </p:extLst>
          </p:nvPr>
        </p:nvGraphicFramePr>
        <p:xfrm>
          <a:off x="1319874" y="1689736"/>
          <a:ext cx="6354590" cy="4492830"/>
        </p:xfrm>
        <a:graphic>
          <a:graphicData uri="http://schemas.openxmlformats.org/drawingml/2006/table">
            <a:tbl>
              <a:tblPr>
                <a:tableStyleId>{1FECB4D8-DB02-4DC6-A0A2-4F2EBAE1DC90}</a:tableStyleId>
              </a:tblPr>
              <a:tblGrid>
                <a:gridCol w="1270918">
                  <a:extLst>
                    <a:ext uri="{9D8B030D-6E8A-4147-A177-3AD203B41FA5}">
                      <a16:colId xmlns:a16="http://schemas.microsoft.com/office/drawing/2014/main" val="2381945453"/>
                    </a:ext>
                  </a:extLst>
                </a:gridCol>
                <a:gridCol w="1270918">
                  <a:extLst>
                    <a:ext uri="{9D8B030D-6E8A-4147-A177-3AD203B41FA5}">
                      <a16:colId xmlns:a16="http://schemas.microsoft.com/office/drawing/2014/main" val="3120290002"/>
                    </a:ext>
                  </a:extLst>
                </a:gridCol>
                <a:gridCol w="1270918">
                  <a:extLst>
                    <a:ext uri="{9D8B030D-6E8A-4147-A177-3AD203B41FA5}">
                      <a16:colId xmlns:a16="http://schemas.microsoft.com/office/drawing/2014/main" val="1335040150"/>
                    </a:ext>
                  </a:extLst>
                </a:gridCol>
                <a:gridCol w="1270918">
                  <a:extLst>
                    <a:ext uri="{9D8B030D-6E8A-4147-A177-3AD203B41FA5}">
                      <a16:colId xmlns:a16="http://schemas.microsoft.com/office/drawing/2014/main" val="893158296"/>
                    </a:ext>
                  </a:extLst>
                </a:gridCol>
                <a:gridCol w="1270918">
                  <a:extLst>
                    <a:ext uri="{9D8B030D-6E8A-4147-A177-3AD203B41FA5}">
                      <a16:colId xmlns:a16="http://schemas.microsoft.com/office/drawing/2014/main" val="1779068947"/>
                    </a:ext>
                  </a:extLst>
                </a:gridCol>
              </a:tblGrid>
              <a:tr h="216522">
                <a:tc>
                  <a:txBody>
                    <a:bodyPr/>
                    <a:lstStyle/>
                    <a:p>
                      <a:r>
                        <a:rPr lang="en-US" sz="1000" b="1" dirty="0"/>
                        <a:t>Company</a:t>
                      </a:r>
                      <a:endParaRPr lang="en-US" sz="1000" dirty="0"/>
                    </a:p>
                  </a:txBody>
                  <a:tcPr marL="52426" marR="52426" marT="26213" marB="26213" anchor="ctr"/>
                </a:tc>
                <a:tc>
                  <a:txBody>
                    <a:bodyPr/>
                    <a:lstStyle/>
                    <a:p>
                      <a:r>
                        <a:rPr lang="en-US" sz="1000" b="1" dirty="0"/>
                        <a:t>Strengths</a:t>
                      </a:r>
                      <a:endParaRPr lang="en-US" sz="1000" dirty="0"/>
                    </a:p>
                  </a:txBody>
                  <a:tcPr marL="52426" marR="52426" marT="26213" marB="26213" anchor="ctr"/>
                </a:tc>
                <a:tc>
                  <a:txBody>
                    <a:bodyPr/>
                    <a:lstStyle/>
                    <a:p>
                      <a:r>
                        <a:rPr lang="en-US" sz="1000" b="1" dirty="0"/>
                        <a:t>Weaknesses</a:t>
                      </a:r>
                      <a:endParaRPr lang="en-US" sz="1000" dirty="0"/>
                    </a:p>
                  </a:txBody>
                  <a:tcPr marL="52426" marR="52426" marT="26213" marB="26213" anchor="ctr"/>
                </a:tc>
                <a:tc>
                  <a:txBody>
                    <a:bodyPr/>
                    <a:lstStyle/>
                    <a:p>
                      <a:r>
                        <a:rPr lang="en-US" sz="1000" b="1" dirty="0"/>
                        <a:t>Opportunities</a:t>
                      </a:r>
                      <a:endParaRPr lang="en-US" sz="1000" dirty="0"/>
                    </a:p>
                  </a:txBody>
                  <a:tcPr marL="52426" marR="52426" marT="26213" marB="26213" anchor="ctr"/>
                </a:tc>
                <a:tc>
                  <a:txBody>
                    <a:bodyPr/>
                    <a:lstStyle/>
                    <a:p>
                      <a:r>
                        <a:rPr lang="en-US" sz="1000" b="1"/>
                        <a:t>Threats</a:t>
                      </a:r>
                      <a:endParaRPr lang="en-US" sz="1000"/>
                    </a:p>
                  </a:txBody>
                  <a:tcPr marL="52426" marR="52426" marT="26213" marB="26213" anchor="ctr"/>
                </a:tc>
                <a:extLst>
                  <a:ext uri="{0D108BD9-81ED-4DB2-BD59-A6C34878D82A}">
                    <a16:rowId xmlns:a16="http://schemas.microsoft.com/office/drawing/2014/main" val="3677251353"/>
                  </a:ext>
                </a:extLst>
              </a:tr>
              <a:tr h="866088">
                <a:tc>
                  <a:txBody>
                    <a:bodyPr/>
                    <a:lstStyle/>
                    <a:p>
                      <a:r>
                        <a:rPr lang="en-US" sz="1000" b="1"/>
                        <a:t>AT&amp;T</a:t>
                      </a:r>
                      <a:endParaRPr lang="en-US" sz="1000"/>
                    </a:p>
                  </a:txBody>
                  <a:tcPr marL="52426" marR="52426" marT="26213" marB="26213" anchor="ctr"/>
                </a:tc>
                <a:tc>
                  <a:txBody>
                    <a:bodyPr/>
                    <a:lstStyle/>
                    <a:p>
                      <a:r>
                        <a:rPr lang="en-US" sz="1000" dirty="0"/>
                        <a:t>Established brand, nationwide coverage, diverse offerings</a:t>
                      </a:r>
                    </a:p>
                  </a:txBody>
                  <a:tcPr marL="52426" marR="52426" marT="26213" marB="26213" anchor="ctr"/>
                </a:tc>
                <a:tc>
                  <a:txBody>
                    <a:bodyPr/>
                    <a:lstStyle/>
                    <a:p>
                      <a:r>
                        <a:rPr lang="en-US" sz="1000" dirty="0"/>
                        <a:t>Lack of local service personalization, perceived rigidity, higher pricing</a:t>
                      </a:r>
                    </a:p>
                  </a:txBody>
                  <a:tcPr marL="52426" marR="52426" marT="26213" marB="26213" anchor="ctr"/>
                </a:tc>
                <a:tc>
                  <a:txBody>
                    <a:bodyPr/>
                    <a:lstStyle/>
                    <a:p>
                      <a:r>
                        <a:rPr lang="en-US" sz="1000" dirty="0"/>
                        <a:t>Fiber demand in MDUs, cross-selling with other services</a:t>
                      </a:r>
                    </a:p>
                  </a:txBody>
                  <a:tcPr marL="52426" marR="52426" marT="26213" marB="26213" anchor="ctr"/>
                </a:tc>
                <a:tc>
                  <a:txBody>
                    <a:bodyPr/>
                    <a:lstStyle/>
                    <a:p>
                      <a:r>
                        <a:rPr lang="en-US" sz="1000"/>
                        <a:t>Regional competitors with localized services, technological disruptions</a:t>
                      </a:r>
                    </a:p>
                  </a:txBody>
                  <a:tcPr marL="52426" marR="52426" marT="26213" marB="26213" anchor="ctr"/>
                </a:tc>
                <a:extLst>
                  <a:ext uri="{0D108BD9-81ED-4DB2-BD59-A6C34878D82A}">
                    <a16:rowId xmlns:a16="http://schemas.microsoft.com/office/drawing/2014/main" val="2802321450"/>
                  </a:ext>
                </a:extLst>
              </a:tr>
              <a:tr h="1028479">
                <a:tc>
                  <a:txBody>
                    <a:bodyPr/>
                    <a:lstStyle/>
                    <a:p>
                      <a:r>
                        <a:rPr lang="en-US" sz="1000" b="1"/>
                        <a:t>Bluestream Fiber</a:t>
                      </a:r>
                      <a:endParaRPr lang="en-US" sz="1000"/>
                    </a:p>
                  </a:txBody>
                  <a:tcPr marL="52426" marR="52426" marT="26213" marB="26213" anchor="ctr"/>
                </a:tc>
                <a:tc>
                  <a:txBody>
                    <a:bodyPr/>
                    <a:lstStyle/>
                    <a:p>
                      <a:r>
                        <a:rPr lang="en-US" sz="1000" dirty="0"/>
                        <a:t>Local expertise in Florida, reliable services, focus on MDUs</a:t>
                      </a:r>
                    </a:p>
                  </a:txBody>
                  <a:tcPr marL="52426" marR="52426" marT="26213" marB="26213" anchor="ctr"/>
                </a:tc>
                <a:tc>
                  <a:txBody>
                    <a:bodyPr/>
                    <a:lstStyle/>
                    <a:p>
                      <a:r>
                        <a:rPr lang="en-US" sz="1000" dirty="0"/>
                        <a:t>Limited geographic reach, fewer resources for rapid tech upgrades</a:t>
                      </a:r>
                    </a:p>
                  </a:txBody>
                  <a:tcPr marL="52426" marR="52426" marT="26213" marB="26213" anchor="ctr"/>
                </a:tc>
                <a:tc>
                  <a:txBody>
                    <a:bodyPr/>
                    <a:lstStyle/>
                    <a:p>
                      <a:r>
                        <a:rPr lang="en-US" sz="1000" dirty="0"/>
                        <a:t>Expanding into underserved areas, local partnerships</a:t>
                      </a:r>
                    </a:p>
                  </a:txBody>
                  <a:tcPr marL="52426" marR="52426" marT="26213" marB="26213" anchor="ctr"/>
                </a:tc>
                <a:tc>
                  <a:txBody>
                    <a:bodyPr/>
                    <a:lstStyle/>
                    <a:p>
                      <a:r>
                        <a:rPr lang="en-US" sz="1000" dirty="0"/>
                        <a:t>Larger competitors with more resources, technological advancements by others</a:t>
                      </a:r>
                    </a:p>
                  </a:txBody>
                  <a:tcPr marL="52426" marR="52426" marT="26213" marB="26213" anchor="ctr"/>
                </a:tc>
                <a:extLst>
                  <a:ext uri="{0D108BD9-81ED-4DB2-BD59-A6C34878D82A}">
                    <a16:rowId xmlns:a16="http://schemas.microsoft.com/office/drawing/2014/main" val="817540815"/>
                  </a:ext>
                </a:extLst>
              </a:tr>
              <a:tr h="866088">
                <a:tc>
                  <a:txBody>
                    <a:bodyPr/>
                    <a:lstStyle/>
                    <a:p>
                      <a:r>
                        <a:rPr lang="en-US" sz="1000" b="1" dirty="0"/>
                        <a:t>Hotwire</a:t>
                      </a:r>
                      <a:endParaRPr lang="en-US" sz="1000" dirty="0"/>
                    </a:p>
                  </a:txBody>
                  <a:tcPr marL="52426" marR="52426" marT="26213" marB="26213" anchor="ctr"/>
                </a:tc>
                <a:tc>
                  <a:txBody>
                    <a:bodyPr/>
                    <a:lstStyle/>
                    <a:p>
                      <a:r>
                        <a:rPr lang="en-US" sz="1000" dirty="0"/>
                        <a:t>Tailored MDU solutions, future-proof fiber technology, smart home integrations</a:t>
                      </a:r>
                    </a:p>
                  </a:txBody>
                  <a:tcPr marL="52426" marR="52426" marT="26213" marB="26213" anchor="ctr"/>
                </a:tc>
                <a:tc>
                  <a:txBody>
                    <a:bodyPr/>
                    <a:lstStyle/>
                    <a:p>
                      <a:r>
                        <a:rPr lang="en-US" sz="1000" dirty="0"/>
                        <a:t>Higher pricing, inflexible contract terms, slower customer service response times</a:t>
                      </a:r>
                    </a:p>
                  </a:txBody>
                  <a:tcPr marL="52426" marR="52426" marT="26213" marB="26213" anchor="ctr"/>
                </a:tc>
                <a:tc>
                  <a:txBody>
                    <a:bodyPr/>
                    <a:lstStyle/>
                    <a:p>
                      <a:r>
                        <a:rPr lang="en-US" sz="1000" dirty="0"/>
                        <a:t>Expansion into luxury MDUs, smart home partnerships</a:t>
                      </a:r>
                    </a:p>
                  </a:txBody>
                  <a:tcPr marL="52426" marR="52426" marT="26213" marB="26213" anchor="ctr"/>
                </a:tc>
                <a:tc>
                  <a:txBody>
                    <a:bodyPr/>
                    <a:lstStyle/>
                    <a:p>
                      <a:r>
                        <a:rPr lang="en-US" sz="1000" dirty="0"/>
                        <a:t>Competition from local providers offering flexible packages, pricing pressures</a:t>
                      </a:r>
                    </a:p>
                  </a:txBody>
                  <a:tcPr marL="52426" marR="52426" marT="26213" marB="26213" anchor="ctr"/>
                </a:tc>
                <a:extLst>
                  <a:ext uri="{0D108BD9-81ED-4DB2-BD59-A6C34878D82A}">
                    <a16:rowId xmlns:a16="http://schemas.microsoft.com/office/drawing/2014/main" val="4220434305"/>
                  </a:ext>
                </a:extLst>
              </a:tr>
              <a:tr h="1515653">
                <a:tc>
                  <a:txBody>
                    <a:bodyPr/>
                    <a:lstStyle/>
                    <a:p>
                      <a:r>
                        <a:rPr lang="en-US" sz="1000" b="1" dirty="0" err="1"/>
                        <a:t>Smartaira</a:t>
                      </a:r>
                      <a:endParaRPr lang="en-US" sz="1000" dirty="0"/>
                    </a:p>
                  </a:txBody>
                  <a:tcPr marL="52426" marR="52426" marT="26213" marB="26213" anchor="ctr"/>
                </a:tc>
                <a:tc>
                  <a:txBody>
                    <a:bodyPr/>
                    <a:lstStyle/>
                    <a:p>
                      <a:r>
                        <a:rPr lang="en-US" sz="1000" dirty="0"/>
                        <a:t>Tailored MDU solutions, innovative technology (</a:t>
                      </a:r>
                      <a:r>
                        <a:rPr lang="en-US" sz="1000" dirty="0" err="1"/>
                        <a:t>InstantON</a:t>
                      </a:r>
                      <a:r>
                        <a:rPr lang="en-US" sz="1000" dirty="0"/>
                        <a:t>, </a:t>
                      </a:r>
                      <a:r>
                        <a:rPr lang="en-US" sz="1000" dirty="0" err="1"/>
                        <a:t>Smartaira</a:t>
                      </a:r>
                      <a:r>
                        <a:rPr lang="en-US" sz="1000" dirty="0"/>
                        <a:t> 360), 24/7 technical support</a:t>
                      </a:r>
                    </a:p>
                  </a:txBody>
                  <a:tcPr marL="52426" marR="52426" marT="26213" marB="26213" anchor="ctr"/>
                </a:tc>
                <a:tc>
                  <a:txBody>
                    <a:bodyPr/>
                    <a:lstStyle/>
                    <a:p>
                      <a:r>
                        <a:rPr lang="en-US" sz="1000" dirty="0"/>
                        <a:t>Limited brand recognition, geographical reach, resource constraints for rapid tech advancements</a:t>
                      </a:r>
                    </a:p>
                  </a:txBody>
                  <a:tcPr marL="52426" marR="52426" marT="26213" marB="26213" anchor="ctr"/>
                </a:tc>
                <a:tc>
                  <a:txBody>
                    <a:bodyPr/>
                    <a:lstStyle/>
                    <a:p>
                      <a:r>
                        <a:rPr lang="en-US" sz="1000" dirty="0"/>
                        <a:t>Growing MDU market demand, technological advancements, partnerships with property owners</a:t>
                      </a:r>
                    </a:p>
                  </a:txBody>
                  <a:tcPr marL="52426" marR="52426" marT="26213" marB="26213" anchor="ctr"/>
                </a:tc>
                <a:tc>
                  <a:txBody>
                    <a:bodyPr/>
                    <a:lstStyle/>
                    <a:p>
                      <a:r>
                        <a:rPr lang="en-US" sz="1000" dirty="0"/>
                        <a:t>Intense competition from established providers, technological disruptions, regulatory changes</a:t>
                      </a:r>
                    </a:p>
                  </a:txBody>
                  <a:tcPr marL="52426" marR="52426" marT="26213" marB="26213" anchor="ctr"/>
                </a:tc>
                <a:extLst>
                  <a:ext uri="{0D108BD9-81ED-4DB2-BD59-A6C34878D82A}">
                    <a16:rowId xmlns:a16="http://schemas.microsoft.com/office/drawing/2014/main" val="2302707978"/>
                  </a:ext>
                </a:extLst>
              </a:tr>
            </a:tbl>
          </a:graphicData>
        </a:graphic>
      </p:graphicFrame>
      <p:sp>
        <p:nvSpPr>
          <p:cNvPr id="8" name="TextBox 7">
            <a:extLst>
              <a:ext uri="{FF2B5EF4-FFF2-40B4-BE49-F238E27FC236}">
                <a16:creationId xmlns:a16="http://schemas.microsoft.com/office/drawing/2014/main" id="{DE242DA1-CA7D-5B2A-ED55-D1A87A75C0C8}"/>
              </a:ext>
            </a:extLst>
          </p:cNvPr>
          <p:cNvSpPr txBox="1"/>
          <p:nvPr/>
        </p:nvSpPr>
        <p:spPr>
          <a:xfrm>
            <a:off x="9050693" y="1647448"/>
            <a:ext cx="1819470" cy="307777"/>
          </a:xfrm>
          <a:prstGeom prst="rect">
            <a:avLst/>
          </a:prstGeom>
          <a:noFill/>
        </p:spPr>
        <p:txBody>
          <a:bodyPr wrap="square" rtlCol="0">
            <a:spAutoFit/>
          </a:bodyPr>
          <a:lstStyle/>
          <a:p>
            <a:r>
              <a:rPr lang="es-CO" sz="1400" u="sng" dirty="0" err="1">
                <a:solidFill>
                  <a:schemeClr val="accent1">
                    <a:lumMod val="75000"/>
                  </a:schemeClr>
                </a:solidFill>
                <a:latin typeface="Helvetica" panose="020B0604020202020204" pitchFamily="34" charset="0"/>
                <a:cs typeface="Helvetica" panose="020B0604020202020204" pitchFamily="34" charset="0"/>
              </a:rPr>
              <a:t>Conclusion</a:t>
            </a:r>
            <a:endParaRPr lang="en-US" sz="1400" u="sng" dirty="0">
              <a:solidFill>
                <a:schemeClr val="accent1">
                  <a:lumMod val="75000"/>
                </a:schemeClr>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507313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D5665F1-FFC8-2811-8588-FC8E68B89E05}"/>
              </a:ext>
            </a:extLst>
          </p:cNvPr>
          <p:cNvSpPr>
            <a:spLocks noGrp="1"/>
          </p:cNvSpPr>
          <p:nvPr>
            <p:ph type="title"/>
          </p:nvPr>
        </p:nvSpPr>
        <p:spPr/>
        <p:txBody>
          <a:bodyPr/>
          <a:lstStyle/>
          <a:p>
            <a:r>
              <a:rPr lang="es-CO"/>
              <a:t>Market </a:t>
            </a:r>
            <a:r>
              <a:rPr lang="es-CO" err="1"/>
              <a:t>Analysis</a:t>
            </a:r>
            <a:endParaRPr lang="en-US"/>
          </a:p>
        </p:txBody>
      </p:sp>
      <p:sp>
        <p:nvSpPr>
          <p:cNvPr id="4" name="Oval 3">
            <a:extLst>
              <a:ext uri="{FF2B5EF4-FFF2-40B4-BE49-F238E27FC236}">
                <a16:creationId xmlns:a16="http://schemas.microsoft.com/office/drawing/2014/main" id="{D1A4D902-2824-CD9F-5A6D-D22AD78E42B0}"/>
              </a:ext>
            </a:extLst>
          </p:cNvPr>
          <p:cNvSpPr/>
          <p:nvPr/>
        </p:nvSpPr>
        <p:spPr>
          <a:xfrm>
            <a:off x="1657349" y="1719263"/>
            <a:ext cx="3343275" cy="3176588"/>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Oval 4">
            <a:extLst>
              <a:ext uri="{FF2B5EF4-FFF2-40B4-BE49-F238E27FC236}">
                <a16:creationId xmlns:a16="http://schemas.microsoft.com/office/drawing/2014/main" id="{DE61514A-2CD5-12F8-BBB4-1B95D71FC141}"/>
              </a:ext>
            </a:extLst>
          </p:cNvPr>
          <p:cNvSpPr/>
          <p:nvPr/>
        </p:nvSpPr>
        <p:spPr>
          <a:xfrm>
            <a:off x="3514724" y="1719263"/>
            <a:ext cx="3343275" cy="3176588"/>
          </a:xfrm>
          <a:prstGeom prst="ellipse">
            <a:avLst/>
          </a:prstGeom>
          <a:no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Oval 5">
            <a:extLst>
              <a:ext uri="{FF2B5EF4-FFF2-40B4-BE49-F238E27FC236}">
                <a16:creationId xmlns:a16="http://schemas.microsoft.com/office/drawing/2014/main" id="{437DB1BC-26DA-324A-73BE-6146E11DF746}"/>
              </a:ext>
            </a:extLst>
          </p:cNvPr>
          <p:cNvSpPr/>
          <p:nvPr/>
        </p:nvSpPr>
        <p:spPr>
          <a:xfrm>
            <a:off x="2638424" y="3307557"/>
            <a:ext cx="3343275" cy="3176588"/>
          </a:xfrm>
          <a:prstGeom prst="ellipse">
            <a:avLst/>
          </a:prstGeom>
          <a:noFill/>
          <a:ln>
            <a:solidFill>
              <a:schemeClr val="accent4">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1">
            <a:extLst>
              <a:ext uri="{FF2B5EF4-FFF2-40B4-BE49-F238E27FC236}">
                <a16:creationId xmlns:a16="http://schemas.microsoft.com/office/drawing/2014/main" id="{1F1EA5A3-215F-7441-7628-155DD93F83CE}"/>
              </a:ext>
            </a:extLst>
          </p:cNvPr>
          <p:cNvSpPr>
            <a:spLocks noChangeArrowheads="1"/>
          </p:cNvSpPr>
          <p:nvPr/>
        </p:nvSpPr>
        <p:spPr bwMode="auto">
          <a:xfrm>
            <a:off x="1990725" y="2518186"/>
            <a:ext cx="155257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Nationwide coverage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Diverse offerings (Internet, TV, Mobile) </a:t>
            </a:r>
          </a:p>
        </p:txBody>
      </p:sp>
      <p:sp>
        <p:nvSpPr>
          <p:cNvPr id="11" name="Rectangle 1">
            <a:extLst>
              <a:ext uri="{FF2B5EF4-FFF2-40B4-BE49-F238E27FC236}">
                <a16:creationId xmlns:a16="http://schemas.microsoft.com/office/drawing/2014/main" id="{948D6FF0-FD3B-9997-6CDA-2C81C4CBF8F5}"/>
              </a:ext>
            </a:extLst>
          </p:cNvPr>
          <p:cNvSpPr>
            <a:spLocks noChangeArrowheads="1"/>
          </p:cNvSpPr>
          <p:nvPr/>
        </p:nvSpPr>
        <p:spPr bwMode="auto">
          <a:xfrm>
            <a:off x="5205411" y="2564352"/>
            <a:ext cx="155257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Local expertise in Florida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Strong MDU focus</a:t>
            </a:r>
          </a:p>
        </p:txBody>
      </p:sp>
      <p:sp>
        <p:nvSpPr>
          <p:cNvPr id="12" name="Rectangle 1">
            <a:extLst>
              <a:ext uri="{FF2B5EF4-FFF2-40B4-BE49-F238E27FC236}">
                <a16:creationId xmlns:a16="http://schemas.microsoft.com/office/drawing/2014/main" id="{4EB56FC5-4C25-5C8B-71DA-8D0229A95832}"/>
              </a:ext>
            </a:extLst>
          </p:cNvPr>
          <p:cNvSpPr>
            <a:spLocks noChangeArrowheads="1"/>
          </p:cNvSpPr>
          <p:nvPr/>
        </p:nvSpPr>
        <p:spPr bwMode="auto">
          <a:xfrm>
            <a:off x="3424791" y="5294664"/>
            <a:ext cx="17329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Future-proof technology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Smart home integrations</a:t>
            </a:r>
          </a:p>
        </p:txBody>
      </p:sp>
      <p:sp>
        <p:nvSpPr>
          <p:cNvPr id="14" name="Rectangle 1">
            <a:extLst>
              <a:ext uri="{FF2B5EF4-FFF2-40B4-BE49-F238E27FC236}">
                <a16:creationId xmlns:a16="http://schemas.microsoft.com/office/drawing/2014/main" id="{B927444B-58B4-BAE8-D7F2-BFC225511C50}"/>
              </a:ext>
            </a:extLst>
          </p:cNvPr>
          <p:cNvSpPr>
            <a:spLocks noChangeArrowheads="1"/>
          </p:cNvSpPr>
          <p:nvPr/>
        </p:nvSpPr>
        <p:spPr bwMode="auto">
          <a:xfrm>
            <a:off x="3743880" y="3488352"/>
            <a:ext cx="126682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Opportunities in luxury MDUs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Growth in fiber expansion</a:t>
            </a:r>
          </a:p>
        </p:txBody>
      </p:sp>
      <p:sp>
        <p:nvSpPr>
          <p:cNvPr id="15" name="Rectangle 1">
            <a:extLst>
              <a:ext uri="{FF2B5EF4-FFF2-40B4-BE49-F238E27FC236}">
                <a16:creationId xmlns:a16="http://schemas.microsoft.com/office/drawing/2014/main" id="{EB6601A2-49EA-55D7-8141-DF36D02061E7}"/>
              </a:ext>
            </a:extLst>
          </p:cNvPr>
          <p:cNvSpPr>
            <a:spLocks noChangeArrowheads="1"/>
          </p:cNvSpPr>
          <p:nvPr/>
        </p:nvSpPr>
        <p:spPr bwMode="auto">
          <a:xfrm>
            <a:off x="4714875" y="4112454"/>
            <a:ext cx="116205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a:ln>
                  <a:noFill/>
                </a:ln>
                <a:solidFill>
                  <a:schemeClr val="tx1"/>
                </a:solidFill>
                <a:effectLst/>
                <a:latin typeface="Arial" panose="020B0604020202020204" pitchFamily="34" charset="0"/>
              </a:rPr>
              <a:t>Tailored solutions specifically designed for MDUs</a:t>
            </a:r>
          </a:p>
        </p:txBody>
      </p:sp>
      <p:sp>
        <p:nvSpPr>
          <p:cNvPr id="16" name="Rectangle 1">
            <a:extLst>
              <a:ext uri="{FF2B5EF4-FFF2-40B4-BE49-F238E27FC236}">
                <a16:creationId xmlns:a16="http://schemas.microsoft.com/office/drawing/2014/main" id="{3610DF63-340F-4E40-CA18-2E1A28F9352B}"/>
              </a:ext>
            </a:extLst>
          </p:cNvPr>
          <p:cNvSpPr>
            <a:spLocks noChangeArrowheads="1"/>
          </p:cNvSpPr>
          <p:nvPr/>
        </p:nvSpPr>
        <p:spPr bwMode="auto">
          <a:xfrm>
            <a:off x="2867580" y="4196864"/>
            <a:ext cx="116205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a:ln>
                  <a:noFill/>
                </a:ln>
                <a:solidFill>
                  <a:schemeClr val="tx1"/>
                </a:solidFill>
                <a:effectLst/>
                <a:latin typeface="Arial" panose="020B0604020202020204" pitchFamily="34" charset="0"/>
              </a:rPr>
              <a:t>Competitive pricing pressure in the Florida market</a:t>
            </a:r>
          </a:p>
        </p:txBody>
      </p:sp>
      <p:sp>
        <p:nvSpPr>
          <p:cNvPr id="17" name="Rectangle 1">
            <a:extLst>
              <a:ext uri="{FF2B5EF4-FFF2-40B4-BE49-F238E27FC236}">
                <a16:creationId xmlns:a16="http://schemas.microsoft.com/office/drawing/2014/main" id="{EC6E314F-20B6-3FED-C303-02FC23413854}"/>
              </a:ext>
            </a:extLst>
          </p:cNvPr>
          <p:cNvSpPr>
            <a:spLocks noChangeArrowheads="1"/>
          </p:cNvSpPr>
          <p:nvPr/>
        </p:nvSpPr>
        <p:spPr bwMode="auto">
          <a:xfrm>
            <a:off x="3695700" y="2518186"/>
            <a:ext cx="11620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a:ln>
                  <a:noFill/>
                </a:ln>
                <a:solidFill>
                  <a:schemeClr val="tx1"/>
                </a:solidFill>
                <a:effectLst/>
                <a:latin typeface="Arial" panose="020B0604020202020204" pitchFamily="34" charset="0"/>
              </a:rPr>
              <a:t>Reliable service reputation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a:ln>
                  <a:noFill/>
                </a:ln>
                <a:solidFill>
                  <a:schemeClr val="tx1"/>
                </a:solidFill>
                <a:effectLst/>
                <a:latin typeface="Arial" panose="020B0604020202020204" pitchFamily="34" charset="0"/>
              </a:rPr>
              <a:t>Growing fiber demand in MDUs</a:t>
            </a:r>
          </a:p>
        </p:txBody>
      </p:sp>
      <p:sp>
        <p:nvSpPr>
          <p:cNvPr id="18" name="TextBox 17">
            <a:extLst>
              <a:ext uri="{FF2B5EF4-FFF2-40B4-BE49-F238E27FC236}">
                <a16:creationId xmlns:a16="http://schemas.microsoft.com/office/drawing/2014/main" id="{541AE971-642D-B17D-4976-1649EB77D98D}"/>
              </a:ext>
            </a:extLst>
          </p:cNvPr>
          <p:cNvSpPr txBox="1"/>
          <p:nvPr/>
        </p:nvSpPr>
        <p:spPr>
          <a:xfrm>
            <a:off x="1564219" y="1959468"/>
            <a:ext cx="681212" cy="369332"/>
          </a:xfrm>
          <a:prstGeom prst="rect">
            <a:avLst/>
          </a:prstGeom>
          <a:noFill/>
        </p:spPr>
        <p:txBody>
          <a:bodyPr wrap="none" rtlCol="0">
            <a:spAutoFit/>
          </a:bodyPr>
          <a:lstStyle/>
          <a:p>
            <a:r>
              <a:rPr lang="es-CO"/>
              <a:t>AT&amp;T</a:t>
            </a:r>
            <a:endParaRPr lang="en-US"/>
          </a:p>
        </p:txBody>
      </p:sp>
      <p:sp>
        <p:nvSpPr>
          <p:cNvPr id="19" name="TextBox 18">
            <a:extLst>
              <a:ext uri="{FF2B5EF4-FFF2-40B4-BE49-F238E27FC236}">
                <a16:creationId xmlns:a16="http://schemas.microsoft.com/office/drawing/2014/main" id="{D40360F6-6F67-108C-F734-189C22B325AC}"/>
              </a:ext>
            </a:extLst>
          </p:cNvPr>
          <p:cNvSpPr txBox="1"/>
          <p:nvPr/>
        </p:nvSpPr>
        <p:spPr>
          <a:xfrm>
            <a:off x="6364819" y="1959412"/>
            <a:ext cx="1251496" cy="369332"/>
          </a:xfrm>
          <a:prstGeom prst="rect">
            <a:avLst/>
          </a:prstGeom>
          <a:noFill/>
        </p:spPr>
        <p:txBody>
          <a:bodyPr wrap="none" rtlCol="0">
            <a:spAutoFit/>
          </a:bodyPr>
          <a:lstStyle/>
          <a:p>
            <a:r>
              <a:rPr lang="es-CO" err="1"/>
              <a:t>Bluestream</a:t>
            </a:r>
            <a:endParaRPr lang="en-US"/>
          </a:p>
        </p:txBody>
      </p:sp>
      <p:sp>
        <p:nvSpPr>
          <p:cNvPr id="20" name="TextBox 19">
            <a:extLst>
              <a:ext uri="{FF2B5EF4-FFF2-40B4-BE49-F238E27FC236}">
                <a16:creationId xmlns:a16="http://schemas.microsoft.com/office/drawing/2014/main" id="{79C477D7-B60F-761D-60A8-70A615AE9AA8}"/>
              </a:ext>
            </a:extLst>
          </p:cNvPr>
          <p:cNvSpPr txBox="1"/>
          <p:nvPr/>
        </p:nvSpPr>
        <p:spPr>
          <a:xfrm>
            <a:off x="3752791" y="6442519"/>
            <a:ext cx="938270" cy="369332"/>
          </a:xfrm>
          <a:prstGeom prst="rect">
            <a:avLst/>
          </a:prstGeom>
          <a:noFill/>
        </p:spPr>
        <p:txBody>
          <a:bodyPr wrap="none" rtlCol="0">
            <a:spAutoFit/>
          </a:bodyPr>
          <a:lstStyle/>
          <a:p>
            <a:r>
              <a:rPr lang="es-CO" err="1"/>
              <a:t>Hotwire</a:t>
            </a:r>
            <a:endParaRPr lang="en-US"/>
          </a:p>
        </p:txBody>
      </p:sp>
      <p:grpSp>
        <p:nvGrpSpPr>
          <p:cNvPr id="21" name="Group 20">
            <a:extLst>
              <a:ext uri="{FF2B5EF4-FFF2-40B4-BE49-F238E27FC236}">
                <a16:creationId xmlns:a16="http://schemas.microsoft.com/office/drawing/2014/main" id="{E7E6C5F7-AC9D-EF8A-B4D5-EA8EC00E991A}"/>
              </a:ext>
            </a:extLst>
          </p:cNvPr>
          <p:cNvGrpSpPr/>
          <p:nvPr/>
        </p:nvGrpSpPr>
        <p:grpSpPr>
          <a:xfrm>
            <a:off x="7438748" y="3007992"/>
            <a:ext cx="4229655" cy="2208924"/>
            <a:chOff x="0" y="0"/>
            <a:chExt cx="9906000" cy="1070550"/>
          </a:xfrm>
        </p:grpSpPr>
        <p:sp>
          <p:nvSpPr>
            <p:cNvPr id="22" name="Rectangle: Rounded Corners 21">
              <a:extLst>
                <a:ext uri="{FF2B5EF4-FFF2-40B4-BE49-F238E27FC236}">
                  <a16:creationId xmlns:a16="http://schemas.microsoft.com/office/drawing/2014/main" id="{27AFADC0-8A2A-E249-0B82-244426DC81E3}"/>
                </a:ext>
              </a:extLst>
            </p:cNvPr>
            <p:cNvSpPr/>
            <p:nvPr/>
          </p:nvSpPr>
          <p:spPr>
            <a:xfrm>
              <a:off x="0" y="0"/>
              <a:ext cx="9906000" cy="1070550"/>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23" name="Rectangle: Rounded Corners 4">
              <a:extLst>
                <a:ext uri="{FF2B5EF4-FFF2-40B4-BE49-F238E27FC236}">
                  <a16:creationId xmlns:a16="http://schemas.microsoft.com/office/drawing/2014/main" id="{B66C48D3-65AC-9558-33BF-155F315336B0}"/>
                </a:ext>
              </a:extLst>
            </p:cNvPr>
            <p:cNvSpPr txBox="1"/>
            <p:nvPr/>
          </p:nvSpPr>
          <p:spPr>
            <a:xfrm>
              <a:off x="52260" y="52260"/>
              <a:ext cx="9801480" cy="96603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While AT&amp;T, </a:t>
              </a:r>
              <a:r>
                <a:rPr lang="en-US" sz="1500" kern="1200" err="1"/>
                <a:t>Bluestream</a:t>
              </a:r>
              <a:r>
                <a:rPr lang="en-US" sz="1500" kern="1200"/>
                <a:t>, and Hotwire have strong market positions, </a:t>
              </a:r>
              <a:r>
                <a:rPr lang="en-US" sz="1500" b="1" u="sng" kern="1200"/>
                <a:t>Celerity Fiber’s</a:t>
              </a:r>
              <a:r>
                <a:rPr lang="en-US" sz="1500" kern="1200"/>
                <a:t> local expertise, customer-centric approach, and flexibility positions as the ideal choice for MDUs in South Florida. These advantages allow Celerity Fiber to capitalize on the growing demand for reliable, high-speed connectivity, particularly in a market where personalized service and adaptability are key differentiators.</a:t>
              </a:r>
            </a:p>
          </p:txBody>
        </p:sp>
      </p:grpSp>
    </p:spTree>
    <p:extLst>
      <p:ext uri="{BB962C8B-B14F-4D97-AF65-F5344CB8AC3E}">
        <p14:creationId xmlns:p14="http://schemas.microsoft.com/office/powerpoint/2010/main" val="1551999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0429B-10E9-2EFE-F2F5-8360923EBC8A}"/>
              </a:ext>
            </a:extLst>
          </p:cNvPr>
          <p:cNvSpPr>
            <a:spLocks noGrp="1"/>
          </p:cNvSpPr>
          <p:nvPr>
            <p:ph type="title"/>
          </p:nvPr>
        </p:nvSpPr>
        <p:spPr/>
        <p:txBody>
          <a:bodyPr/>
          <a:lstStyle/>
          <a:p>
            <a:r>
              <a:rPr lang="es-CO" err="1"/>
              <a:t>Conclusions</a:t>
            </a:r>
            <a:endParaRPr lang="en-US"/>
          </a:p>
        </p:txBody>
      </p:sp>
      <p:graphicFrame>
        <p:nvGraphicFramePr>
          <p:cNvPr id="5" name="Content Placeholder 2">
            <a:extLst>
              <a:ext uri="{FF2B5EF4-FFF2-40B4-BE49-F238E27FC236}">
                <a16:creationId xmlns:a16="http://schemas.microsoft.com/office/drawing/2014/main" id="{FE293A34-FAB7-8DD9-67B9-409775DD05DC}"/>
              </a:ext>
            </a:extLst>
          </p:cNvPr>
          <p:cNvGraphicFramePr>
            <a:graphicFrameLocks noGrp="1"/>
          </p:cNvGraphicFramePr>
          <p:nvPr>
            <p:ph idx="1"/>
            <p:extLst>
              <p:ext uri="{D42A27DB-BD31-4B8C-83A1-F6EECF244321}">
                <p14:modId xmlns:p14="http://schemas.microsoft.com/office/powerpoint/2010/main" val="2976235308"/>
              </p:ext>
            </p:extLst>
          </p:nvPr>
        </p:nvGraphicFramePr>
        <p:xfrm>
          <a:off x="838200" y="1771304"/>
          <a:ext cx="10216081" cy="36426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1962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30B2E-CBB3-D4C4-DC3D-D3A592756284}"/>
              </a:ext>
            </a:extLst>
          </p:cNvPr>
          <p:cNvSpPr>
            <a:spLocks noGrp="1"/>
          </p:cNvSpPr>
          <p:nvPr>
            <p:ph type="title"/>
          </p:nvPr>
        </p:nvSpPr>
        <p:spPr>
          <a:xfrm>
            <a:off x="838200" y="365125"/>
            <a:ext cx="10515600" cy="1325563"/>
          </a:xfrm>
        </p:spPr>
        <p:txBody>
          <a:bodyPr anchor="ctr">
            <a:normAutofit/>
          </a:bodyPr>
          <a:lstStyle/>
          <a:p>
            <a:r>
              <a:rPr lang="es-CO" dirty="0" err="1"/>
              <a:t>Celerity</a:t>
            </a:r>
            <a:r>
              <a:rPr lang="es-CO" dirty="0"/>
              <a:t> </a:t>
            </a:r>
            <a:r>
              <a:rPr lang="es-CO" dirty="0" err="1"/>
              <a:t>Fiber</a:t>
            </a:r>
            <a:endParaRPr lang="en-US" dirty="0"/>
          </a:p>
        </p:txBody>
      </p:sp>
      <p:graphicFrame>
        <p:nvGraphicFramePr>
          <p:cNvPr id="11" name="Content Placeholder 2">
            <a:extLst>
              <a:ext uri="{FF2B5EF4-FFF2-40B4-BE49-F238E27FC236}">
                <a16:creationId xmlns:a16="http://schemas.microsoft.com/office/drawing/2014/main" id="{92DC1208-6D27-FB55-78F7-6715DD36F7A0}"/>
              </a:ext>
            </a:extLst>
          </p:cNvPr>
          <p:cNvGraphicFramePr>
            <a:graphicFrameLocks noGrp="1"/>
          </p:cNvGraphicFramePr>
          <p:nvPr>
            <p:ph idx="1"/>
            <p:extLst>
              <p:ext uri="{D42A27DB-BD31-4B8C-83A1-F6EECF244321}">
                <p14:modId xmlns:p14="http://schemas.microsoft.com/office/powerpoint/2010/main" val="3152037991"/>
              </p:ext>
            </p:extLst>
          </p:nvPr>
        </p:nvGraphicFramePr>
        <p:xfrm>
          <a:off x="838200" y="1440614"/>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3878530"/>
      </p:ext>
    </p:extLst>
  </p:cSld>
  <p:clrMapOvr>
    <a:masterClrMapping/>
  </p:clrMapOvr>
</p:sld>
</file>

<file path=ppt/theme/theme1.xml><?xml version="1.0" encoding="utf-8"?>
<a:theme xmlns:a="http://schemas.openxmlformats.org/drawingml/2006/main" name="PPT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F09F1E83-C93B-41BB-8838-D15CED773C0A}" vid="{7B81C842-CE4C-4BCD-99F5-299989E8FDAC}"/>
    </a:ext>
  </a:extLst>
</a:theme>
</file>

<file path=docProps/app.xml><?xml version="1.0" encoding="utf-8"?>
<Properties xmlns="http://schemas.openxmlformats.org/officeDocument/2006/extended-properties" xmlns:vt="http://schemas.openxmlformats.org/officeDocument/2006/docPropsVTypes">
  <Template>PPT Template</Template>
  <TotalTime>342</TotalTime>
  <Words>1378</Words>
  <Application>Microsoft Office PowerPoint</Application>
  <PresentationFormat>Widescreen</PresentationFormat>
  <Paragraphs>129</Paragraphs>
  <Slides>8</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3" baseType="lpstr">
      <vt:lpstr>Arial</vt:lpstr>
      <vt:lpstr>Calibri</vt:lpstr>
      <vt:lpstr>Helvetica</vt:lpstr>
      <vt:lpstr>PPT Template</vt:lpstr>
      <vt:lpstr>Worksheet</vt:lpstr>
      <vt:lpstr>BENCHMARK</vt:lpstr>
      <vt:lpstr>Benchmark</vt:lpstr>
      <vt:lpstr>PowerPoint Presentation</vt:lpstr>
      <vt:lpstr>Benchmark Top Competitors</vt:lpstr>
      <vt:lpstr>DOFA Top Competitors</vt:lpstr>
      <vt:lpstr>Market Analysis</vt:lpstr>
      <vt:lpstr>Conclusions</vt:lpstr>
      <vt:lpstr>Celerity Fiber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Jose Florez</dc:creator>
  <cp:lastModifiedBy>Juan Jose Florez</cp:lastModifiedBy>
  <cp:revision>1</cp:revision>
  <dcterms:created xsi:type="dcterms:W3CDTF">2024-10-21T14:19:24Z</dcterms:created>
  <dcterms:modified xsi:type="dcterms:W3CDTF">2025-05-02T20:31:05Z</dcterms:modified>
</cp:coreProperties>
</file>